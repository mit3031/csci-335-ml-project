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33" d="100"/>
          <a:sy n="133" d="100"/>
        </p:scale>
        <p:origin x="320"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Samples</c:v>
                </c:pt>
              </c:strCache>
            </c:strRef>
          </c:tx>
          <c:spPr>
            <a:solidFill>
              <a:srgbClr val="E87461"/>
            </a:solidFill>
            <a:effectLst/>
          </c:spPr>
          <c:invertIfNegative val="0"/>
          <c:dLbls>
            <c:numFmt formatCode="#,##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Negative</c:v>
                </c:pt>
                <c:pt idx="1">
                  <c:v>Positive</c:v>
                </c:pt>
                <c:pt idx="2">
                  <c:v>Neutral</c:v>
                </c:pt>
                <c:pt idx="3">
                  <c:v>Irrelevant</c:v>
                </c:pt>
              </c:strCache>
            </c:strRef>
          </c:cat>
          <c:val>
            <c:numRef>
              <c:f>Sheet1!$B$2:$B$5</c:f>
              <c:numCache>
                <c:formatCode>General</c:formatCode>
                <c:ptCount val="4"/>
                <c:pt idx="0">
                  <c:v>22358</c:v>
                </c:pt>
                <c:pt idx="1">
                  <c:v>20655</c:v>
                </c:pt>
                <c:pt idx="2">
                  <c:v>18108</c:v>
                </c:pt>
                <c:pt idx="3">
                  <c:v>12875</c:v>
                </c:pt>
              </c:numCache>
            </c:numRef>
          </c:val>
          <c:extLst>
            <c:ext xmlns:c16="http://schemas.microsoft.com/office/drawing/2014/chart" uri="{C3380CC4-5D6E-409C-BE32-E72D297353CC}">
              <c16:uniqueId val="{00000000-46CD-FE43-BFA3-2E46F8CA0B4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7E2D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Weighted F1</c:v>
                </c:pt>
              </c:strCache>
            </c:strRef>
          </c:tx>
          <c:spPr>
            <a:solidFill>
              <a:srgbClr val="6B7280">
                <a:alpha val="100000"/>
              </a:srgbClr>
            </a:solidFill>
            <a:effectLst/>
          </c:spPr>
          <c:invertIfNegative val="0"/>
          <c:dPt>
            <c:idx val="0"/>
            <c:invertIfNegative val="0"/>
            <c:bubble3D val="0"/>
            <c:spPr>
              <a:solidFill>
                <a:srgbClr val="E87461"/>
              </a:solidFill>
              <a:effectLst/>
            </c:spPr>
            <c:extLst>
              <c:ext xmlns:c16="http://schemas.microsoft.com/office/drawing/2014/chart" uri="{C3380CC4-5D6E-409C-BE32-E72D297353CC}">
                <c16:uniqueId val="{00000001-8C95-6141-8CC9-0FFEAB0AEB37}"/>
              </c:ext>
            </c:extLst>
          </c:dPt>
          <c:dPt>
            <c:idx val="1"/>
            <c:invertIfNegative val="0"/>
            <c:bubble3D val="0"/>
            <c:spPr>
              <a:solidFill>
                <a:srgbClr val="3E8989"/>
              </a:solidFill>
              <a:effectLst/>
            </c:spPr>
            <c:extLst>
              <c:ext xmlns:c16="http://schemas.microsoft.com/office/drawing/2014/chart" uri="{C3380CC4-5D6E-409C-BE32-E72D297353CC}">
                <c16:uniqueId val="{00000003-8C95-6141-8CC9-0FFEAB0AEB37}"/>
              </c:ext>
            </c:extLst>
          </c:dPt>
          <c:dPt>
            <c:idx val="2"/>
            <c:invertIfNegative val="0"/>
            <c:bubble3D val="0"/>
            <c:spPr>
              <a:solidFill>
                <a:srgbClr val="6B7280"/>
              </a:solidFill>
              <a:effectLst/>
            </c:spPr>
            <c:extLst>
              <c:ext xmlns:c16="http://schemas.microsoft.com/office/drawing/2014/chart" uri="{C3380CC4-5D6E-409C-BE32-E72D297353CC}">
                <c16:uniqueId val="{00000005-8C95-6141-8CC9-0FFEAB0AEB37}"/>
              </c:ext>
            </c:extLst>
          </c:dPt>
          <c:dPt>
            <c:idx val="3"/>
            <c:invertIfNegative val="0"/>
            <c:bubble3D val="0"/>
            <c:spPr>
              <a:solidFill>
                <a:srgbClr val="D4A84B"/>
              </a:solidFill>
              <a:effectLst/>
            </c:spPr>
            <c:extLst>
              <c:ext xmlns:c16="http://schemas.microsoft.com/office/drawing/2014/chart" uri="{C3380CC4-5D6E-409C-BE32-E72D297353CC}">
                <c16:uniqueId val="{00000007-8C95-6141-8CC9-0FFEAB0AEB37}"/>
              </c:ext>
            </c:extLst>
          </c:dPt>
          <c:dLbls>
            <c:numFmt formatCode="0.00" sourceLinked="0"/>
            <c:spPr>
              <a:noFill/>
              <a:ln>
                <a:noFill/>
              </a:ln>
              <a:effectLst/>
            </c:spPr>
            <c:txPr>
              <a:bodyPr/>
              <a:lstStyle/>
              <a:p>
                <a:pPr>
                  <a:defRPr sz="1200" b="0" i="0" u="none" strike="noStrike">
                    <a:solidFill>
                      <a:srgbClr val="EDE9E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DistilBERT</c:v>
                </c:pt>
                <c:pt idx="1">
                  <c:v>TF-IDF + LogReg</c:v>
                </c:pt>
                <c:pt idx="2">
                  <c:v>TF-IDF + SVM</c:v>
                </c:pt>
                <c:pt idx="3">
                  <c:v>BERT</c:v>
                </c:pt>
              </c:strCache>
            </c:strRef>
          </c:cat>
          <c:val>
            <c:numRef>
              <c:f>Sheet1!$B$2:$B$5</c:f>
              <c:numCache>
                <c:formatCode>General</c:formatCode>
                <c:ptCount val="4"/>
                <c:pt idx="0">
                  <c:v>0.94899999999999995</c:v>
                </c:pt>
                <c:pt idx="1">
                  <c:v>0.88</c:v>
                </c:pt>
                <c:pt idx="2">
                  <c:v>0.92</c:v>
                </c:pt>
                <c:pt idx="3">
                  <c:v>0.95799999999999996</c:v>
                </c:pt>
              </c:numCache>
            </c:numRef>
          </c:val>
          <c:extLst>
            <c:ext xmlns:c16="http://schemas.microsoft.com/office/drawing/2014/chart" uri="{C3380CC4-5D6E-409C-BE32-E72D297353CC}">
              <c16:uniqueId val="{00000008-8C95-6141-8CC9-0FFEAB0AEB3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BDB7A8"/>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2A2D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8578"/>
                </a:solidFill>
                <a:latin typeface="Arial"/>
              </a:defRPr>
            </a:pPr>
            <a:endParaRPr lang="en-US"/>
          </a:p>
        </c:txPr>
        <c:crossAx val="2094734554"/>
        <c:crosses val="autoZero"/>
        <c:crossBetween val="between"/>
      </c:valAx>
      <c:spPr>
        <a:solidFill>
          <a:srgbClr val="101321"/>
        </a:solidFill>
        <a:ln>
          <a:noFill/>
        </a:ln>
        <a:effectLst/>
      </c:spPr>
    </c:plotArea>
    <c:plotVisOnly val="1"/>
    <c:dispBlanksAs val="span"/>
    <c:showDLblsOverMax val="1"/>
  </c:chart>
  <c:spPr>
    <a:solidFill>
      <a:srgbClr val="101321"/>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4995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321"/>
        </a:solidFill>
        <a:effectLst/>
      </p:bgPr>
    </p:bg>
    <p:spTree>
      <p:nvGrpSpPr>
        <p:cNvPr id="1" name=""/>
        <p:cNvGrpSpPr/>
        <p:nvPr/>
      </p:nvGrpSpPr>
      <p:grpSpPr>
        <a:xfrm>
          <a:off x="0" y="0"/>
          <a:ext cx="0" cy="0"/>
          <a:chOff x="0" y="0"/>
          <a:chExt cx="0" cy="0"/>
        </a:xfrm>
      </p:grpSpPr>
      <p:sp>
        <p:nvSpPr>
          <p:cNvPr id="2" name="Text 0"/>
          <p:cNvSpPr/>
          <p:nvPr/>
        </p:nvSpPr>
        <p:spPr>
          <a:xfrm>
            <a:off x="274320" y="-548640"/>
            <a:ext cx="2743200" cy="3200400"/>
          </a:xfrm>
          <a:prstGeom prst="rect">
            <a:avLst/>
          </a:prstGeom>
          <a:noFill/>
          <a:ln/>
        </p:spPr>
        <p:txBody>
          <a:bodyPr wrap="square" rtlCol="0" anchor="ctr"/>
          <a:lstStyle/>
          <a:p>
            <a:pPr marL="0" indent="0">
              <a:buNone/>
            </a:pPr>
            <a:r>
              <a:rPr lang="en-US" sz="28000" b="1" dirty="0">
                <a:solidFill>
                  <a:srgbClr val="E87461"/>
                </a:solidFill>
                <a:latin typeface="Georgia" pitchFamily="34" charset="0"/>
                <a:ea typeface="Georgia" pitchFamily="34" charset="-122"/>
                <a:cs typeface="Georgia" pitchFamily="34" charset="-120"/>
              </a:rPr>
              <a:t>“</a:t>
            </a:r>
            <a:endParaRPr lang="en-US" sz="28000" dirty="0"/>
          </a:p>
        </p:txBody>
      </p:sp>
      <p:sp>
        <p:nvSpPr>
          <p:cNvPr id="3" name="Text 1"/>
          <p:cNvSpPr/>
          <p:nvPr/>
        </p:nvSpPr>
        <p:spPr>
          <a:xfrm>
            <a:off x="731520" y="2651760"/>
            <a:ext cx="7315200" cy="274320"/>
          </a:xfrm>
          <a:prstGeom prst="rect">
            <a:avLst/>
          </a:prstGeom>
          <a:noFill/>
          <a:ln/>
        </p:spPr>
        <p:txBody>
          <a:bodyPr wrap="square" rtlCol="0" anchor="ctr"/>
          <a:lstStyle/>
          <a:p>
            <a:pPr marL="0" indent="0">
              <a:buNone/>
            </a:pPr>
            <a:r>
              <a:rPr lang="en-US" sz="1100" b="1" kern="0" spc="600" dirty="0">
                <a:solidFill>
                  <a:srgbClr val="E87461"/>
                </a:solidFill>
                <a:latin typeface="Calibri" pitchFamily="34" charset="0"/>
                <a:ea typeface="Calibri" pitchFamily="34" charset="-122"/>
                <a:cs typeface="Calibri" pitchFamily="34" charset="-120"/>
              </a:rPr>
              <a:t>A COMPARATIVE STUDY</a:t>
            </a:r>
            <a:endParaRPr lang="en-US" sz="1100" dirty="0"/>
          </a:p>
        </p:txBody>
      </p:sp>
      <p:sp>
        <p:nvSpPr>
          <p:cNvPr id="4" name="Text 2"/>
          <p:cNvSpPr/>
          <p:nvPr/>
        </p:nvSpPr>
        <p:spPr>
          <a:xfrm>
            <a:off x="731520" y="2971800"/>
            <a:ext cx="10789920" cy="1005840"/>
          </a:xfrm>
          <a:prstGeom prst="rect">
            <a:avLst/>
          </a:prstGeom>
          <a:noFill/>
          <a:ln/>
        </p:spPr>
        <p:txBody>
          <a:bodyPr wrap="square" rtlCol="0" anchor="ctr"/>
          <a:lstStyle/>
          <a:p>
            <a:pPr marL="0" indent="0">
              <a:buNone/>
            </a:pPr>
            <a:r>
              <a:rPr lang="en-US" sz="4800" b="1" dirty="0">
                <a:solidFill>
                  <a:srgbClr val="EDE9E0"/>
                </a:solidFill>
                <a:latin typeface="Georgia" pitchFamily="34" charset="0"/>
                <a:ea typeface="Georgia" pitchFamily="34" charset="-122"/>
                <a:cs typeface="Georgia" pitchFamily="34" charset="-120"/>
              </a:rPr>
              <a:t>Sentiment Analysis on Tweets</a:t>
            </a:r>
            <a:endParaRPr lang="en-US" sz="4800" dirty="0"/>
          </a:p>
        </p:txBody>
      </p:sp>
      <p:sp>
        <p:nvSpPr>
          <p:cNvPr id="5" name="Text 3"/>
          <p:cNvSpPr/>
          <p:nvPr/>
        </p:nvSpPr>
        <p:spPr>
          <a:xfrm>
            <a:off x="731520" y="3977640"/>
            <a:ext cx="10058400" cy="457200"/>
          </a:xfrm>
          <a:prstGeom prst="rect">
            <a:avLst/>
          </a:prstGeom>
          <a:noFill/>
          <a:ln/>
        </p:spPr>
        <p:txBody>
          <a:bodyPr wrap="square" rtlCol="0" anchor="ctr"/>
          <a:lstStyle/>
          <a:p>
            <a:pPr marL="0" indent="0">
              <a:buNone/>
            </a:pPr>
            <a:r>
              <a:rPr lang="en-US" sz="2000" i="1" dirty="0">
                <a:solidFill>
                  <a:srgbClr val="BDB7A8"/>
                </a:solidFill>
                <a:latin typeface="Calibri" pitchFamily="34" charset="0"/>
                <a:ea typeface="Calibri" pitchFamily="34" charset="-122"/>
                <a:cs typeface="Calibri" pitchFamily="34" charset="-120"/>
              </a:rPr>
              <a:t>Classical machine learning vs. transformer-based models</a:t>
            </a:r>
            <a:endParaRPr lang="en-US" sz="2000" dirty="0"/>
          </a:p>
        </p:txBody>
      </p:sp>
      <p:sp>
        <p:nvSpPr>
          <p:cNvPr id="6" name="Shape 4"/>
          <p:cNvSpPr/>
          <p:nvPr/>
        </p:nvSpPr>
        <p:spPr>
          <a:xfrm>
            <a:off x="731520" y="4754880"/>
            <a:ext cx="2286000" cy="0"/>
          </a:xfrm>
          <a:prstGeom prst="line">
            <a:avLst/>
          </a:prstGeom>
          <a:noFill/>
          <a:ln w="9525">
            <a:solidFill>
              <a:srgbClr val="E87461"/>
            </a:solidFill>
            <a:prstDash val="solid"/>
          </a:ln>
        </p:spPr>
        <p:txBody>
          <a:bodyPr/>
          <a:lstStyle/>
          <a:p>
            <a:endParaRPr lang="en-US"/>
          </a:p>
        </p:txBody>
      </p:sp>
      <p:sp>
        <p:nvSpPr>
          <p:cNvPr id="7" name="Text 5"/>
          <p:cNvSpPr/>
          <p:nvPr/>
        </p:nvSpPr>
        <p:spPr>
          <a:xfrm>
            <a:off x="731520" y="4937760"/>
            <a:ext cx="5486400" cy="731520"/>
          </a:xfrm>
          <a:prstGeom prst="rect">
            <a:avLst/>
          </a:prstGeom>
          <a:noFill/>
          <a:ln/>
        </p:spPr>
        <p:txBody>
          <a:bodyPr wrap="square" rtlCol="0" anchor="ctr"/>
          <a:lstStyle/>
          <a:p>
            <a:pPr marL="0" indent="0">
              <a:spcAft>
                <a:spcPts val="400"/>
              </a:spcAft>
              <a:buNone/>
            </a:pPr>
            <a:r>
              <a:rPr lang="en-US" sz="1000" b="1" kern="0" spc="300" dirty="0">
                <a:solidFill>
                  <a:srgbClr val="E87461"/>
                </a:solidFill>
                <a:latin typeface="Calibri" pitchFamily="34" charset="0"/>
                <a:ea typeface="Calibri" pitchFamily="34" charset="-122"/>
                <a:cs typeface="Calibri" pitchFamily="34" charset="-120"/>
              </a:rPr>
              <a:t>GROUP MEMBERS</a:t>
            </a:r>
            <a:endParaRPr lang="en-US" sz="1000" dirty="0"/>
          </a:p>
          <a:p>
            <a:pPr marL="0" indent="0">
              <a:spcAft>
                <a:spcPts val="400"/>
              </a:spcAft>
              <a:buNone/>
            </a:pPr>
            <a:r>
              <a:rPr lang="en-US" sz="1300" dirty="0">
                <a:solidFill>
                  <a:srgbClr val="EDE9E0"/>
                </a:solidFill>
                <a:latin typeface="Calibri" pitchFamily="34" charset="0"/>
                <a:cs typeface="Calibri" pitchFamily="34" charset="-120"/>
              </a:rPr>
              <a:t>Prajnyique, Angel, </a:t>
            </a:r>
            <a:r>
              <a:rPr lang="en-US" sz="1300" dirty="0" err="1">
                <a:solidFill>
                  <a:srgbClr val="EDE9E0"/>
                </a:solidFill>
                <a:latin typeface="Calibri" pitchFamily="34" charset="0"/>
                <a:cs typeface="Calibri" pitchFamily="34" charset="-120"/>
              </a:rPr>
              <a:t>Marvynn</a:t>
            </a:r>
            <a:r>
              <a:rPr lang="en-US" sz="1300" dirty="0">
                <a:solidFill>
                  <a:srgbClr val="EDE9E0"/>
                </a:solidFill>
                <a:latin typeface="Calibri" pitchFamily="34" charset="0"/>
                <a:cs typeface="Calibri" pitchFamily="34" charset="-120"/>
              </a:rPr>
              <a:t>, Terry</a:t>
            </a:r>
            <a:endParaRPr lang="en-US" sz="1000" dirty="0"/>
          </a:p>
        </p:txBody>
      </p:sp>
      <p:sp>
        <p:nvSpPr>
          <p:cNvPr id="8" name="Text 6"/>
          <p:cNvSpPr/>
          <p:nvPr/>
        </p:nvSpPr>
        <p:spPr>
          <a:xfrm>
            <a:off x="6583680" y="4937760"/>
            <a:ext cx="5029200" cy="1280160"/>
          </a:xfrm>
          <a:prstGeom prst="rect">
            <a:avLst/>
          </a:prstGeom>
          <a:noFill/>
          <a:ln/>
        </p:spPr>
        <p:txBody>
          <a:bodyPr wrap="square" rtlCol="0" anchor="ctr"/>
          <a:lstStyle/>
          <a:p>
            <a:pPr marL="0" indent="0">
              <a:spcAft>
                <a:spcPts val="400"/>
              </a:spcAft>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01 · INTRODUCTION</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Can a model read a tweet's mood?</a:t>
            </a:r>
            <a:endParaRPr lang="en-US" sz="3600" dirty="0"/>
          </a:p>
        </p:txBody>
      </p:sp>
      <p:sp>
        <p:nvSpPr>
          <p:cNvPr id="4" name="Shape 2"/>
          <p:cNvSpPr/>
          <p:nvPr/>
        </p:nvSpPr>
        <p:spPr>
          <a:xfrm>
            <a:off x="548640" y="1691640"/>
            <a:ext cx="1371600" cy="0"/>
          </a:xfrm>
          <a:prstGeom prst="line">
            <a:avLst/>
          </a:prstGeom>
          <a:noFill/>
          <a:ln w="9525">
            <a:solidFill>
              <a:srgbClr val="E87461"/>
            </a:solidFill>
            <a:prstDash val="solid"/>
          </a:ln>
        </p:spPr>
        <p:txBody>
          <a:bodyPr/>
          <a:lstStyle/>
          <a:p>
            <a:endParaRPr lang="en-US"/>
          </a:p>
        </p:txBody>
      </p:sp>
      <p:sp>
        <p:nvSpPr>
          <p:cNvPr id="5" name="Text 3"/>
          <p:cNvSpPr/>
          <p:nvPr/>
        </p:nvSpPr>
        <p:spPr>
          <a:xfrm>
            <a:off x="548640" y="1965960"/>
            <a:ext cx="5303520" cy="2286000"/>
          </a:xfrm>
          <a:prstGeom prst="rect">
            <a:avLst/>
          </a:prstGeom>
          <a:noFill/>
          <a:ln/>
        </p:spPr>
        <p:txBody>
          <a:bodyPr wrap="square" rtlCol="0" anchor="ctr"/>
          <a:lstStyle/>
          <a:p>
            <a:pPr marL="0" indent="0">
              <a:spcAft>
                <a:spcPts val="600"/>
              </a:spcAft>
              <a:buNone/>
            </a:pPr>
            <a:r>
              <a:rPr lang="en-US" sz="1100" b="1" kern="0" spc="300" dirty="0">
                <a:solidFill>
                  <a:srgbClr val="E87461"/>
                </a:solidFill>
                <a:latin typeface="Calibri" pitchFamily="34" charset="0"/>
                <a:ea typeface="Calibri" pitchFamily="34" charset="-122"/>
                <a:cs typeface="Calibri" pitchFamily="34" charset="-120"/>
              </a:rPr>
              <a:t>THE PROBLEM</a:t>
            </a:r>
            <a:endParaRPr lang="en-US" sz="1100" dirty="0"/>
          </a:p>
          <a:p>
            <a:pPr marL="0" indent="0">
              <a:spcAft>
                <a:spcPts val="600"/>
              </a:spcAft>
              <a:buNone/>
            </a:pPr>
            <a:r>
              <a:rPr lang="en-US" sz="600" dirty="0">
                <a:solidFill>
                  <a:srgbClr val="000000"/>
                </a:solidFill>
                <a:latin typeface="Calibri" pitchFamily="34" charset="0"/>
                <a:ea typeface="Calibri" pitchFamily="34" charset="-122"/>
                <a:cs typeface="Calibri" pitchFamily="34" charset="-120"/>
              </a:rPr>
              <a:t> </a:t>
            </a:r>
            <a:endParaRPr lang="en-US" sz="1100" dirty="0"/>
          </a:p>
          <a:p>
            <a:pPr marL="0" indent="0">
              <a:spcAft>
                <a:spcPts val="600"/>
              </a:spcAft>
              <a:buNone/>
            </a:pPr>
            <a:r>
              <a:rPr lang="en-US" sz="1500" dirty="0">
                <a:solidFill>
                  <a:srgbClr val="1A1A2E"/>
                </a:solidFill>
                <a:latin typeface="Calibri" pitchFamily="34" charset="0"/>
                <a:ea typeface="Calibri" pitchFamily="34" charset="-122"/>
                <a:cs typeface="Calibri" pitchFamily="34" charset="-120"/>
              </a:rPr>
              <a:t>Twitter generates millions of short, noisy messages daily. Brands, researchers, and policymakers need to understand sentiment at scale, but tweets are riddled with slang, emojis, hashtags, and sarcasm that break traditional text analysis.</a:t>
            </a:r>
            <a:endParaRPr lang="en-US" sz="1100" dirty="0"/>
          </a:p>
        </p:txBody>
      </p:sp>
      <p:sp>
        <p:nvSpPr>
          <p:cNvPr id="6" name="Text 4"/>
          <p:cNvSpPr/>
          <p:nvPr/>
        </p:nvSpPr>
        <p:spPr>
          <a:xfrm>
            <a:off x="548640" y="4572000"/>
            <a:ext cx="5303520" cy="1645920"/>
          </a:xfrm>
          <a:prstGeom prst="rect">
            <a:avLst/>
          </a:prstGeom>
          <a:noFill/>
          <a:ln/>
        </p:spPr>
        <p:txBody>
          <a:bodyPr wrap="square" rtlCol="0" anchor="ctr"/>
          <a:lstStyle/>
          <a:p>
            <a:pPr marL="0" indent="0">
              <a:spcAft>
                <a:spcPts val="600"/>
              </a:spcAft>
              <a:buNone/>
            </a:pPr>
            <a:r>
              <a:rPr lang="en-US" sz="1100" b="1" kern="0" spc="300" dirty="0">
                <a:solidFill>
                  <a:srgbClr val="3E8989"/>
                </a:solidFill>
                <a:latin typeface="Calibri" pitchFamily="34" charset="0"/>
                <a:ea typeface="Calibri" pitchFamily="34" charset="-122"/>
                <a:cs typeface="Calibri" pitchFamily="34" charset="-120"/>
              </a:rPr>
              <a:t>OUR GOAL</a:t>
            </a:r>
            <a:endParaRPr lang="en-US" sz="1100" dirty="0"/>
          </a:p>
          <a:p>
            <a:pPr marL="0" indent="0">
              <a:spcAft>
                <a:spcPts val="600"/>
              </a:spcAft>
              <a:buNone/>
            </a:pPr>
            <a:r>
              <a:rPr lang="en-US" sz="600" dirty="0">
                <a:solidFill>
                  <a:srgbClr val="000000"/>
                </a:solidFill>
                <a:latin typeface="Calibri" pitchFamily="34" charset="0"/>
                <a:ea typeface="Calibri" pitchFamily="34" charset="-122"/>
                <a:cs typeface="Calibri" pitchFamily="34" charset="-120"/>
              </a:rPr>
              <a:t> </a:t>
            </a:r>
            <a:endParaRPr lang="en-US" sz="1100" dirty="0"/>
          </a:p>
          <a:p>
            <a:pPr marL="0" indent="0">
              <a:spcAft>
                <a:spcPts val="600"/>
              </a:spcAft>
              <a:buNone/>
            </a:pPr>
            <a:r>
              <a:rPr lang="en-US" sz="1500" dirty="0">
                <a:solidFill>
                  <a:srgbClr val="1A1A2E"/>
                </a:solidFill>
                <a:latin typeface="Calibri" pitchFamily="34" charset="0"/>
                <a:ea typeface="Calibri" pitchFamily="34" charset="-122"/>
                <a:cs typeface="Calibri" pitchFamily="34" charset="-120"/>
              </a:rPr>
              <a:t>Build and compare a classical ML pipeline against a fine-tuned transformer to classify tweet sentiment and learn where each approach shines.</a:t>
            </a:r>
            <a:endParaRPr lang="en-US" sz="1100" dirty="0"/>
          </a:p>
        </p:txBody>
      </p:sp>
      <p:sp>
        <p:nvSpPr>
          <p:cNvPr id="7" name="Shape 5"/>
          <p:cNvSpPr/>
          <p:nvPr/>
        </p:nvSpPr>
        <p:spPr>
          <a:xfrm>
            <a:off x="6583680" y="2011680"/>
            <a:ext cx="5029200" cy="1234440"/>
          </a:xfrm>
          <a:prstGeom prst="rect">
            <a:avLst/>
          </a:prstGeom>
          <a:solidFill>
            <a:srgbClr val="FFFFFF"/>
          </a:solidFill>
          <a:ln w="9525">
            <a:solidFill>
              <a:srgbClr val="C9C3B8"/>
            </a:solidFill>
            <a:prstDash val="solid"/>
          </a:ln>
        </p:spPr>
        <p:txBody>
          <a:bodyPr/>
          <a:lstStyle/>
          <a:p>
            <a:endParaRPr lang="en-US"/>
          </a:p>
        </p:txBody>
      </p:sp>
      <p:sp>
        <p:nvSpPr>
          <p:cNvPr id="8" name="Shape 6"/>
          <p:cNvSpPr/>
          <p:nvPr/>
        </p:nvSpPr>
        <p:spPr>
          <a:xfrm>
            <a:off x="6583680" y="2011680"/>
            <a:ext cx="73152" cy="1234440"/>
          </a:xfrm>
          <a:prstGeom prst="rect">
            <a:avLst/>
          </a:prstGeom>
          <a:solidFill>
            <a:srgbClr val="E87461"/>
          </a:solidFill>
          <a:ln/>
        </p:spPr>
        <p:txBody>
          <a:bodyPr/>
          <a:lstStyle/>
          <a:p>
            <a:endParaRPr lang="en-US"/>
          </a:p>
        </p:txBody>
      </p:sp>
      <p:sp>
        <p:nvSpPr>
          <p:cNvPr id="9" name="Text 7"/>
          <p:cNvSpPr/>
          <p:nvPr/>
        </p:nvSpPr>
        <p:spPr>
          <a:xfrm>
            <a:off x="6766560" y="2148840"/>
            <a:ext cx="2743200" cy="274320"/>
          </a:xfrm>
          <a:prstGeom prst="rect">
            <a:avLst/>
          </a:prstGeom>
          <a:noFill/>
          <a:ln/>
        </p:spPr>
        <p:txBody>
          <a:bodyPr wrap="square" rtlCol="0" anchor="ctr"/>
          <a:lstStyle/>
          <a:p>
            <a:pPr marL="0" indent="0">
              <a:buNone/>
            </a:pPr>
            <a:r>
              <a:rPr lang="en-US" sz="1000" b="1" kern="0" spc="300" dirty="0">
                <a:solidFill>
                  <a:srgbClr val="6B7280"/>
                </a:solidFill>
                <a:latin typeface="Calibri" pitchFamily="34" charset="0"/>
                <a:ea typeface="Calibri" pitchFamily="34" charset="-122"/>
                <a:cs typeface="Calibri" pitchFamily="34" charset="-120"/>
              </a:rPr>
              <a:t>CLASSES</a:t>
            </a:r>
            <a:endParaRPr lang="en-US" sz="1000" dirty="0"/>
          </a:p>
        </p:txBody>
      </p:sp>
      <p:sp>
        <p:nvSpPr>
          <p:cNvPr id="10" name="Text 8"/>
          <p:cNvSpPr/>
          <p:nvPr/>
        </p:nvSpPr>
        <p:spPr>
          <a:xfrm>
            <a:off x="6766560" y="2377440"/>
            <a:ext cx="2286000" cy="594360"/>
          </a:xfrm>
          <a:prstGeom prst="rect">
            <a:avLst/>
          </a:prstGeom>
          <a:noFill/>
          <a:ln/>
        </p:spPr>
        <p:txBody>
          <a:bodyPr wrap="square" rtlCol="0" anchor="ctr"/>
          <a:lstStyle/>
          <a:p>
            <a:pPr marL="0" indent="0">
              <a:buNone/>
            </a:pPr>
            <a:r>
              <a:rPr lang="en-US" sz="4000" b="1" dirty="0">
                <a:solidFill>
                  <a:srgbClr val="1A1A2E"/>
                </a:solidFill>
                <a:latin typeface="Georgia" pitchFamily="34" charset="0"/>
                <a:ea typeface="Georgia" pitchFamily="34" charset="-122"/>
                <a:cs typeface="Georgia" pitchFamily="34" charset="-120"/>
              </a:rPr>
              <a:t>4</a:t>
            </a:r>
            <a:endParaRPr lang="en-US" sz="4000" dirty="0"/>
          </a:p>
        </p:txBody>
      </p:sp>
      <p:sp>
        <p:nvSpPr>
          <p:cNvPr id="11" name="Text 9"/>
          <p:cNvSpPr/>
          <p:nvPr/>
        </p:nvSpPr>
        <p:spPr>
          <a:xfrm>
            <a:off x="9052560" y="2423160"/>
            <a:ext cx="2377440" cy="7772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Positive · Negative · Neutral · Irrelevant</a:t>
            </a:r>
            <a:endParaRPr lang="en-US" sz="1100" dirty="0"/>
          </a:p>
        </p:txBody>
      </p:sp>
      <p:sp>
        <p:nvSpPr>
          <p:cNvPr id="12" name="Shape 10"/>
          <p:cNvSpPr/>
          <p:nvPr/>
        </p:nvSpPr>
        <p:spPr>
          <a:xfrm>
            <a:off x="6583680" y="3429000"/>
            <a:ext cx="5029200" cy="1234440"/>
          </a:xfrm>
          <a:prstGeom prst="rect">
            <a:avLst/>
          </a:prstGeom>
          <a:solidFill>
            <a:srgbClr val="FFFFFF"/>
          </a:solidFill>
          <a:ln w="9525">
            <a:solidFill>
              <a:srgbClr val="C9C3B8"/>
            </a:solidFill>
            <a:prstDash val="solid"/>
          </a:ln>
        </p:spPr>
        <p:txBody>
          <a:bodyPr/>
          <a:lstStyle/>
          <a:p>
            <a:endParaRPr lang="en-US"/>
          </a:p>
        </p:txBody>
      </p:sp>
      <p:sp>
        <p:nvSpPr>
          <p:cNvPr id="13" name="Shape 11"/>
          <p:cNvSpPr/>
          <p:nvPr/>
        </p:nvSpPr>
        <p:spPr>
          <a:xfrm>
            <a:off x="6583680" y="3429000"/>
            <a:ext cx="73152" cy="1234440"/>
          </a:xfrm>
          <a:prstGeom prst="rect">
            <a:avLst/>
          </a:prstGeom>
          <a:solidFill>
            <a:srgbClr val="3E8989"/>
          </a:solidFill>
          <a:ln/>
        </p:spPr>
        <p:txBody>
          <a:bodyPr/>
          <a:lstStyle/>
          <a:p>
            <a:endParaRPr lang="en-US"/>
          </a:p>
        </p:txBody>
      </p:sp>
      <p:sp>
        <p:nvSpPr>
          <p:cNvPr id="14" name="Text 12"/>
          <p:cNvSpPr/>
          <p:nvPr/>
        </p:nvSpPr>
        <p:spPr>
          <a:xfrm>
            <a:off x="6766560" y="3566160"/>
            <a:ext cx="2743200" cy="274320"/>
          </a:xfrm>
          <a:prstGeom prst="rect">
            <a:avLst/>
          </a:prstGeom>
          <a:noFill/>
          <a:ln/>
        </p:spPr>
        <p:txBody>
          <a:bodyPr wrap="square" rtlCol="0" anchor="ctr"/>
          <a:lstStyle/>
          <a:p>
            <a:pPr marL="0" indent="0">
              <a:buNone/>
            </a:pPr>
            <a:r>
              <a:rPr lang="en-US" sz="1000" b="1" kern="0" spc="300" dirty="0">
                <a:solidFill>
                  <a:srgbClr val="6B7280"/>
                </a:solidFill>
                <a:latin typeface="Calibri" pitchFamily="34" charset="0"/>
                <a:ea typeface="Calibri" pitchFamily="34" charset="-122"/>
                <a:cs typeface="Calibri" pitchFamily="34" charset="-120"/>
              </a:rPr>
              <a:t>TRAINING SAMPLES</a:t>
            </a:r>
            <a:endParaRPr lang="en-US" sz="1000" dirty="0"/>
          </a:p>
        </p:txBody>
      </p:sp>
      <p:sp>
        <p:nvSpPr>
          <p:cNvPr id="15" name="Text 13"/>
          <p:cNvSpPr/>
          <p:nvPr/>
        </p:nvSpPr>
        <p:spPr>
          <a:xfrm>
            <a:off x="6766560" y="3794760"/>
            <a:ext cx="2286000" cy="594360"/>
          </a:xfrm>
          <a:prstGeom prst="rect">
            <a:avLst/>
          </a:prstGeom>
          <a:noFill/>
          <a:ln/>
        </p:spPr>
        <p:txBody>
          <a:bodyPr wrap="square" rtlCol="0" anchor="ctr"/>
          <a:lstStyle/>
          <a:p>
            <a:pPr marL="0" indent="0">
              <a:buNone/>
            </a:pPr>
            <a:r>
              <a:rPr lang="en-US" sz="4000" b="1" dirty="0">
                <a:solidFill>
                  <a:srgbClr val="1A1A2E"/>
                </a:solidFill>
                <a:latin typeface="Georgia" pitchFamily="34" charset="0"/>
                <a:ea typeface="Georgia" pitchFamily="34" charset="-122"/>
                <a:cs typeface="Georgia" pitchFamily="34" charset="-120"/>
              </a:rPr>
              <a:t>74K</a:t>
            </a:r>
            <a:endParaRPr lang="en-US" sz="4000" dirty="0"/>
          </a:p>
        </p:txBody>
      </p:sp>
      <p:sp>
        <p:nvSpPr>
          <p:cNvPr id="16" name="Text 14"/>
          <p:cNvSpPr/>
          <p:nvPr/>
        </p:nvSpPr>
        <p:spPr>
          <a:xfrm>
            <a:off x="9052560" y="3840480"/>
            <a:ext cx="2377440" cy="7772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Labeled tweets from Kaggle</a:t>
            </a:r>
            <a:endParaRPr lang="en-US" sz="1100" dirty="0"/>
          </a:p>
        </p:txBody>
      </p:sp>
      <p:sp>
        <p:nvSpPr>
          <p:cNvPr id="17" name="Shape 15"/>
          <p:cNvSpPr/>
          <p:nvPr/>
        </p:nvSpPr>
        <p:spPr>
          <a:xfrm>
            <a:off x="6583680" y="4846320"/>
            <a:ext cx="5029200" cy="1234440"/>
          </a:xfrm>
          <a:prstGeom prst="rect">
            <a:avLst/>
          </a:prstGeom>
          <a:solidFill>
            <a:srgbClr val="FFFFFF"/>
          </a:solidFill>
          <a:ln w="9525">
            <a:solidFill>
              <a:srgbClr val="C9C3B8"/>
            </a:solidFill>
            <a:prstDash val="solid"/>
          </a:ln>
        </p:spPr>
        <p:txBody>
          <a:bodyPr/>
          <a:lstStyle/>
          <a:p>
            <a:endParaRPr lang="en-US"/>
          </a:p>
        </p:txBody>
      </p:sp>
      <p:sp>
        <p:nvSpPr>
          <p:cNvPr id="18" name="Shape 16"/>
          <p:cNvSpPr/>
          <p:nvPr/>
        </p:nvSpPr>
        <p:spPr>
          <a:xfrm>
            <a:off x="6583680" y="4846320"/>
            <a:ext cx="73152" cy="1234440"/>
          </a:xfrm>
          <a:prstGeom prst="rect">
            <a:avLst/>
          </a:prstGeom>
          <a:solidFill>
            <a:srgbClr val="D4A84B"/>
          </a:solidFill>
          <a:ln/>
        </p:spPr>
        <p:txBody>
          <a:bodyPr/>
          <a:lstStyle/>
          <a:p>
            <a:endParaRPr lang="en-US"/>
          </a:p>
        </p:txBody>
      </p:sp>
      <p:sp>
        <p:nvSpPr>
          <p:cNvPr id="19" name="Text 17"/>
          <p:cNvSpPr/>
          <p:nvPr/>
        </p:nvSpPr>
        <p:spPr>
          <a:xfrm>
            <a:off x="6766560" y="4983480"/>
            <a:ext cx="2743200" cy="274320"/>
          </a:xfrm>
          <a:prstGeom prst="rect">
            <a:avLst/>
          </a:prstGeom>
          <a:noFill/>
          <a:ln/>
        </p:spPr>
        <p:txBody>
          <a:bodyPr wrap="square" rtlCol="0" anchor="ctr"/>
          <a:lstStyle/>
          <a:p>
            <a:pPr marL="0" indent="0">
              <a:buNone/>
            </a:pPr>
            <a:r>
              <a:rPr lang="en-US" sz="1000" b="1" kern="0" spc="300" dirty="0">
                <a:solidFill>
                  <a:srgbClr val="6B7280"/>
                </a:solidFill>
                <a:latin typeface="Calibri" pitchFamily="34" charset="0"/>
                <a:ea typeface="Calibri" pitchFamily="34" charset="-122"/>
                <a:cs typeface="Calibri" pitchFamily="34" charset="-120"/>
              </a:rPr>
              <a:t>MODELS COMPARED</a:t>
            </a:r>
            <a:endParaRPr lang="en-US" sz="1000" dirty="0"/>
          </a:p>
        </p:txBody>
      </p:sp>
      <p:sp>
        <p:nvSpPr>
          <p:cNvPr id="20" name="Text 18"/>
          <p:cNvSpPr/>
          <p:nvPr/>
        </p:nvSpPr>
        <p:spPr>
          <a:xfrm>
            <a:off x="6766560" y="5212080"/>
            <a:ext cx="2286000" cy="594360"/>
          </a:xfrm>
          <a:prstGeom prst="rect">
            <a:avLst/>
          </a:prstGeom>
          <a:noFill/>
          <a:ln/>
        </p:spPr>
        <p:txBody>
          <a:bodyPr wrap="square" rtlCol="0" anchor="ctr"/>
          <a:lstStyle/>
          <a:p>
            <a:pPr marL="0" indent="0">
              <a:buNone/>
            </a:pPr>
            <a:r>
              <a:rPr lang="en-US" sz="4000" b="1" dirty="0">
                <a:solidFill>
                  <a:srgbClr val="1A1A2E"/>
                </a:solidFill>
                <a:latin typeface="Georgia" pitchFamily="34" charset="0"/>
                <a:ea typeface="Georgia" pitchFamily="34" charset="-122"/>
                <a:cs typeface="Georgia" pitchFamily="34" charset="-120"/>
              </a:rPr>
              <a:t>3+</a:t>
            </a:r>
            <a:endParaRPr lang="en-US" sz="4000" dirty="0"/>
          </a:p>
        </p:txBody>
      </p:sp>
      <p:sp>
        <p:nvSpPr>
          <p:cNvPr id="21" name="Text 19"/>
          <p:cNvSpPr/>
          <p:nvPr/>
        </p:nvSpPr>
        <p:spPr>
          <a:xfrm>
            <a:off x="9052560" y="5257800"/>
            <a:ext cx="2377440" cy="7772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Classical &amp; transformer-based</a:t>
            </a:r>
            <a:endParaRPr lang="en-US" sz="1100" dirty="0"/>
          </a:p>
        </p:txBody>
      </p:sp>
      <p:sp>
        <p:nvSpPr>
          <p:cNvPr id="22" name="Text 20"/>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23" name="Text 21"/>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02 · HYPOTHESIS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What we expect to find</a:t>
            </a:r>
            <a:endParaRPr lang="en-US" sz="3600" dirty="0"/>
          </a:p>
        </p:txBody>
      </p:sp>
      <p:sp>
        <p:nvSpPr>
          <p:cNvPr id="4" name="Shape 2"/>
          <p:cNvSpPr/>
          <p:nvPr/>
        </p:nvSpPr>
        <p:spPr>
          <a:xfrm>
            <a:off x="548640" y="1691640"/>
            <a:ext cx="1371600" cy="0"/>
          </a:xfrm>
          <a:prstGeom prst="line">
            <a:avLst/>
          </a:prstGeom>
          <a:noFill/>
          <a:ln w="9525">
            <a:solidFill>
              <a:srgbClr val="E87461"/>
            </a:solidFill>
            <a:prstDash val="solid"/>
          </a:ln>
        </p:spPr>
        <p:txBody>
          <a:bodyPr/>
          <a:lstStyle/>
          <a:p>
            <a:endParaRPr lang="en-US"/>
          </a:p>
        </p:txBody>
      </p:sp>
      <p:sp>
        <p:nvSpPr>
          <p:cNvPr id="5" name="Shape 3"/>
          <p:cNvSpPr/>
          <p:nvPr/>
        </p:nvSpPr>
        <p:spPr>
          <a:xfrm>
            <a:off x="548640" y="2103120"/>
            <a:ext cx="11064240" cy="1463040"/>
          </a:xfrm>
          <a:prstGeom prst="rect">
            <a:avLst/>
          </a:prstGeom>
          <a:solidFill>
            <a:srgbClr val="101321"/>
          </a:solidFill>
          <a:ln/>
        </p:spPr>
        <p:txBody>
          <a:bodyPr/>
          <a:lstStyle/>
          <a:p>
            <a:endParaRPr lang="en-US"/>
          </a:p>
        </p:txBody>
      </p:sp>
      <p:sp>
        <p:nvSpPr>
          <p:cNvPr id="6" name="Text 4"/>
          <p:cNvSpPr/>
          <p:nvPr/>
        </p:nvSpPr>
        <p:spPr>
          <a:xfrm>
            <a:off x="731520" y="2057400"/>
            <a:ext cx="731520" cy="731520"/>
          </a:xfrm>
          <a:prstGeom prst="rect">
            <a:avLst/>
          </a:prstGeom>
          <a:noFill/>
          <a:ln/>
        </p:spPr>
        <p:txBody>
          <a:bodyPr wrap="square" rtlCol="0" anchor="ctr"/>
          <a:lstStyle/>
          <a:p>
            <a:pPr marL="0" indent="0">
              <a:buNone/>
            </a:pPr>
            <a:r>
              <a:rPr lang="en-US" sz="6000" b="1" dirty="0">
                <a:solidFill>
                  <a:srgbClr val="E87461"/>
                </a:solidFill>
                <a:latin typeface="Georgia" pitchFamily="34" charset="0"/>
                <a:ea typeface="Georgia" pitchFamily="34" charset="-122"/>
                <a:cs typeface="Georgia" pitchFamily="34" charset="-120"/>
              </a:rPr>
              <a:t>“</a:t>
            </a:r>
            <a:endParaRPr lang="en-US" sz="6000" dirty="0"/>
          </a:p>
        </p:txBody>
      </p:sp>
      <p:sp>
        <p:nvSpPr>
          <p:cNvPr id="7" name="Text 5"/>
          <p:cNvSpPr/>
          <p:nvPr/>
        </p:nvSpPr>
        <p:spPr>
          <a:xfrm>
            <a:off x="1280160" y="2286000"/>
            <a:ext cx="9966960" cy="1097280"/>
          </a:xfrm>
          <a:prstGeom prst="rect">
            <a:avLst/>
          </a:prstGeom>
          <a:noFill/>
          <a:ln/>
        </p:spPr>
        <p:txBody>
          <a:bodyPr wrap="square" rtlCol="0" anchor="ctr"/>
          <a:lstStyle/>
          <a:p>
            <a:pPr marL="0" indent="0">
              <a:buNone/>
            </a:pPr>
            <a:r>
              <a:rPr lang="en-US" sz="1900" i="1" dirty="0">
                <a:solidFill>
                  <a:srgbClr val="EDE9E0"/>
                </a:solidFill>
                <a:latin typeface="Georgia" pitchFamily="34" charset="0"/>
                <a:ea typeface="Georgia" pitchFamily="34" charset="-122"/>
                <a:cs typeface="Georgia" pitchFamily="34" charset="-120"/>
              </a:rPr>
              <a:t>Pretrained transformer embeddings will outperform sparse TF-IDF features — but the distilled model will trade accuracy for speed.</a:t>
            </a:r>
            <a:endParaRPr lang="en-US" sz="1900" dirty="0"/>
          </a:p>
        </p:txBody>
      </p:sp>
      <p:sp>
        <p:nvSpPr>
          <p:cNvPr id="8" name="Shape 6"/>
          <p:cNvSpPr/>
          <p:nvPr/>
        </p:nvSpPr>
        <p:spPr>
          <a:xfrm>
            <a:off x="548640" y="3931920"/>
            <a:ext cx="594360" cy="594360"/>
          </a:xfrm>
          <a:prstGeom prst="ellipse">
            <a:avLst/>
          </a:prstGeom>
          <a:solidFill>
            <a:srgbClr val="E87461"/>
          </a:solidFill>
          <a:ln/>
        </p:spPr>
        <p:txBody>
          <a:bodyPr/>
          <a:lstStyle/>
          <a:p>
            <a:endParaRPr lang="en-US"/>
          </a:p>
        </p:txBody>
      </p:sp>
      <p:sp>
        <p:nvSpPr>
          <p:cNvPr id="9" name="Text 7"/>
          <p:cNvSpPr/>
          <p:nvPr/>
        </p:nvSpPr>
        <p:spPr>
          <a:xfrm>
            <a:off x="548640" y="3950208"/>
            <a:ext cx="594360" cy="54864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H1</a:t>
            </a:r>
            <a:endParaRPr lang="en-US" sz="1300" dirty="0"/>
          </a:p>
        </p:txBody>
      </p:sp>
      <p:sp>
        <p:nvSpPr>
          <p:cNvPr id="10" name="Text 8"/>
          <p:cNvSpPr/>
          <p:nvPr/>
        </p:nvSpPr>
        <p:spPr>
          <a:xfrm>
            <a:off x="1325880" y="3950208"/>
            <a:ext cx="3657600" cy="32004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Transformer &gt; Classical</a:t>
            </a:r>
            <a:endParaRPr lang="en-US" sz="1400" dirty="0"/>
          </a:p>
        </p:txBody>
      </p:sp>
      <p:sp>
        <p:nvSpPr>
          <p:cNvPr id="11" name="Text 9"/>
          <p:cNvSpPr/>
          <p:nvPr/>
        </p:nvSpPr>
        <p:spPr>
          <a:xfrm>
            <a:off x="1325880" y="4251960"/>
            <a:ext cx="10058400" cy="320040"/>
          </a:xfrm>
          <a:prstGeom prst="rect">
            <a:avLst/>
          </a:prstGeom>
          <a:noFill/>
          <a:ln/>
        </p:spPr>
        <p:txBody>
          <a:bodyPr wrap="square" rtlCol="0" anchor="ctr"/>
          <a:lstStyle/>
          <a:p>
            <a:r>
              <a:rPr lang="en-US" sz="1200" dirty="0"/>
              <a:t>Pretrained transformer embeddings will outperform sparse TF-IDF features at classifying sentiment in short, noisy tweets.</a:t>
            </a:r>
          </a:p>
        </p:txBody>
      </p:sp>
      <p:sp>
        <p:nvSpPr>
          <p:cNvPr id="20" name="Text 18"/>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21" name="Text 19"/>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03 · METHODS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Dataset</a:t>
            </a:r>
            <a:endParaRPr lang="en-US" sz="3600" dirty="0"/>
          </a:p>
        </p:txBody>
      </p:sp>
      <p:sp>
        <p:nvSpPr>
          <p:cNvPr id="4" name="Text 2"/>
          <p:cNvSpPr/>
          <p:nvPr/>
        </p:nvSpPr>
        <p:spPr>
          <a:xfrm>
            <a:off x="548640" y="1417320"/>
            <a:ext cx="10972800" cy="32004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Twitter Entity Sentiment Analysis · Kaggle</a:t>
            </a:r>
            <a:endParaRPr lang="en-US" sz="1400" dirty="0"/>
          </a:p>
        </p:txBody>
      </p:sp>
      <p:sp>
        <p:nvSpPr>
          <p:cNvPr id="5" name="Shape 3"/>
          <p:cNvSpPr/>
          <p:nvPr/>
        </p:nvSpPr>
        <p:spPr>
          <a:xfrm>
            <a:off x="548640" y="1828800"/>
            <a:ext cx="1371600" cy="0"/>
          </a:xfrm>
          <a:prstGeom prst="line">
            <a:avLst/>
          </a:prstGeom>
          <a:noFill/>
          <a:ln w="9525">
            <a:solidFill>
              <a:srgbClr val="E87461"/>
            </a:solidFill>
            <a:prstDash val="solid"/>
          </a:ln>
        </p:spPr>
        <p:txBody>
          <a:bodyPr/>
          <a:lstStyle/>
          <a:p>
            <a:endParaRPr lang="en-US"/>
          </a:p>
        </p:txBody>
      </p:sp>
      <p:sp>
        <p:nvSpPr>
          <p:cNvPr id="6" name="Text 4"/>
          <p:cNvSpPr/>
          <p:nvPr/>
        </p:nvSpPr>
        <p:spPr>
          <a:xfrm>
            <a:off x="548640" y="2240280"/>
            <a:ext cx="2743200" cy="36576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Total labeled tweets</a:t>
            </a:r>
            <a:endParaRPr lang="en-US" sz="1200" dirty="0"/>
          </a:p>
        </p:txBody>
      </p:sp>
      <p:sp>
        <p:nvSpPr>
          <p:cNvPr id="7" name="Text 5"/>
          <p:cNvSpPr/>
          <p:nvPr/>
        </p:nvSpPr>
        <p:spPr>
          <a:xfrm>
            <a:off x="3200400" y="2240280"/>
            <a:ext cx="2926080" cy="36576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74,996</a:t>
            </a:r>
            <a:endParaRPr lang="en-US" sz="1400" dirty="0"/>
          </a:p>
        </p:txBody>
      </p:sp>
      <p:sp>
        <p:nvSpPr>
          <p:cNvPr id="8" name="Shape 6"/>
          <p:cNvSpPr/>
          <p:nvPr/>
        </p:nvSpPr>
        <p:spPr>
          <a:xfrm>
            <a:off x="548640" y="2679192"/>
            <a:ext cx="5486400" cy="0"/>
          </a:xfrm>
          <a:prstGeom prst="line">
            <a:avLst/>
          </a:prstGeom>
          <a:noFill/>
          <a:ln w="9525">
            <a:solidFill>
              <a:srgbClr val="C9C3B8"/>
            </a:solidFill>
            <a:prstDash val="solid"/>
          </a:ln>
        </p:spPr>
        <p:txBody>
          <a:bodyPr/>
          <a:lstStyle/>
          <a:p>
            <a:endParaRPr lang="en-US"/>
          </a:p>
        </p:txBody>
      </p:sp>
      <p:sp>
        <p:nvSpPr>
          <p:cNvPr id="9" name="Text 7"/>
          <p:cNvSpPr/>
          <p:nvPr/>
        </p:nvSpPr>
        <p:spPr>
          <a:xfrm>
            <a:off x="548640" y="2743200"/>
            <a:ext cx="2743200" cy="36576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Training set</a:t>
            </a:r>
            <a:endParaRPr lang="en-US" sz="1200" dirty="0"/>
          </a:p>
        </p:txBody>
      </p:sp>
      <p:sp>
        <p:nvSpPr>
          <p:cNvPr id="10" name="Text 8"/>
          <p:cNvSpPr/>
          <p:nvPr/>
        </p:nvSpPr>
        <p:spPr>
          <a:xfrm>
            <a:off x="3200400" y="2743200"/>
            <a:ext cx="2926080" cy="36576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73,996</a:t>
            </a:r>
            <a:endParaRPr lang="en-US" sz="1400" dirty="0"/>
          </a:p>
        </p:txBody>
      </p:sp>
      <p:sp>
        <p:nvSpPr>
          <p:cNvPr id="11" name="Shape 9"/>
          <p:cNvSpPr/>
          <p:nvPr/>
        </p:nvSpPr>
        <p:spPr>
          <a:xfrm>
            <a:off x="548640" y="3182112"/>
            <a:ext cx="5486400" cy="0"/>
          </a:xfrm>
          <a:prstGeom prst="line">
            <a:avLst/>
          </a:prstGeom>
          <a:noFill/>
          <a:ln w="9525">
            <a:solidFill>
              <a:srgbClr val="C9C3B8"/>
            </a:solidFill>
            <a:prstDash val="solid"/>
          </a:ln>
        </p:spPr>
        <p:txBody>
          <a:bodyPr/>
          <a:lstStyle/>
          <a:p>
            <a:endParaRPr lang="en-US"/>
          </a:p>
        </p:txBody>
      </p:sp>
      <p:sp>
        <p:nvSpPr>
          <p:cNvPr id="12" name="Text 10"/>
          <p:cNvSpPr/>
          <p:nvPr/>
        </p:nvSpPr>
        <p:spPr>
          <a:xfrm>
            <a:off x="548640" y="3246120"/>
            <a:ext cx="2743200" cy="36576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Validation set</a:t>
            </a:r>
            <a:endParaRPr lang="en-US" sz="1200" dirty="0"/>
          </a:p>
        </p:txBody>
      </p:sp>
      <p:sp>
        <p:nvSpPr>
          <p:cNvPr id="13" name="Text 11"/>
          <p:cNvSpPr/>
          <p:nvPr/>
        </p:nvSpPr>
        <p:spPr>
          <a:xfrm>
            <a:off x="3200400" y="3246120"/>
            <a:ext cx="2926080" cy="36576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1,000</a:t>
            </a:r>
            <a:endParaRPr lang="en-US" sz="1400" dirty="0"/>
          </a:p>
        </p:txBody>
      </p:sp>
      <p:sp>
        <p:nvSpPr>
          <p:cNvPr id="14" name="Shape 12"/>
          <p:cNvSpPr/>
          <p:nvPr/>
        </p:nvSpPr>
        <p:spPr>
          <a:xfrm>
            <a:off x="548640" y="3685032"/>
            <a:ext cx="5486400" cy="0"/>
          </a:xfrm>
          <a:prstGeom prst="line">
            <a:avLst/>
          </a:prstGeom>
          <a:noFill/>
          <a:ln w="9525">
            <a:solidFill>
              <a:srgbClr val="C9C3B8"/>
            </a:solidFill>
            <a:prstDash val="solid"/>
          </a:ln>
        </p:spPr>
        <p:txBody>
          <a:bodyPr/>
          <a:lstStyle/>
          <a:p>
            <a:endParaRPr lang="en-US"/>
          </a:p>
        </p:txBody>
      </p:sp>
      <p:sp>
        <p:nvSpPr>
          <p:cNvPr id="15" name="Text 13"/>
          <p:cNvSpPr/>
          <p:nvPr/>
        </p:nvSpPr>
        <p:spPr>
          <a:xfrm>
            <a:off x="548640" y="3749040"/>
            <a:ext cx="2743200" cy="36576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Classes</a:t>
            </a:r>
            <a:endParaRPr lang="en-US" sz="1200" dirty="0"/>
          </a:p>
        </p:txBody>
      </p:sp>
      <p:sp>
        <p:nvSpPr>
          <p:cNvPr id="16" name="Text 14"/>
          <p:cNvSpPr/>
          <p:nvPr/>
        </p:nvSpPr>
        <p:spPr>
          <a:xfrm>
            <a:off x="3200400" y="3749040"/>
            <a:ext cx="2926080" cy="36576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4 (Pos · Neg · Neutral · Irrelevant)</a:t>
            </a:r>
            <a:endParaRPr lang="en-US" sz="1400" dirty="0"/>
          </a:p>
        </p:txBody>
      </p:sp>
      <p:sp>
        <p:nvSpPr>
          <p:cNvPr id="17" name="Shape 15"/>
          <p:cNvSpPr/>
          <p:nvPr/>
        </p:nvSpPr>
        <p:spPr>
          <a:xfrm>
            <a:off x="548640" y="4187952"/>
            <a:ext cx="5486400" cy="0"/>
          </a:xfrm>
          <a:prstGeom prst="line">
            <a:avLst/>
          </a:prstGeom>
          <a:noFill/>
          <a:ln w="9525">
            <a:solidFill>
              <a:srgbClr val="C9C3B8"/>
            </a:solidFill>
            <a:prstDash val="solid"/>
          </a:ln>
        </p:spPr>
        <p:txBody>
          <a:bodyPr/>
          <a:lstStyle/>
          <a:p>
            <a:endParaRPr lang="en-US"/>
          </a:p>
        </p:txBody>
      </p:sp>
      <p:sp>
        <p:nvSpPr>
          <p:cNvPr id="18" name="Text 16"/>
          <p:cNvSpPr/>
          <p:nvPr/>
        </p:nvSpPr>
        <p:spPr>
          <a:xfrm>
            <a:off x="548640" y="4251960"/>
            <a:ext cx="2743200" cy="36576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Format</a:t>
            </a:r>
            <a:endParaRPr lang="en-US" sz="1200" dirty="0"/>
          </a:p>
        </p:txBody>
      </p:sp>
      <p:sp>
        <p:nvSpPr>
          <p:cNvPr id="19" name="Text 17"/>
          <p:cNvSpPr/>
          <p:nvPr/>
        </p:nvSpPr>
        <p:spPr>
          <a:xfrm>
            <a:off x="3200400" y="4251960"/>
            <a:ext cx="2926080" cy="36576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id · entity · sentiment · text (CSV)</a:t>
            </a:r>
            <a:endParaRPr lang="en-US" sz="1400" dirty="0"/>
          </a:p>
        </p:txBody>
      </p:sp>
      <p:sp>
        <p:nvSpPr>
          <p:cNvPr id="20" name="Shape 18"/>
          <p:cNvSpPr/>
          <p:nvPr/>
        </p:nvSpPr>
        <p:spPr>
          <a:xfrm>
            <a:off x="548640" y="4690872"/>
            <a:ext cx="5486400" cy="0"/>
          </a:xfrm>
          <a:prstGeom prst="line">
            <a:avLst/>
          </a:prstGeom>
          <a:noFill/>
          <a:ln w="9525">
            <a:solidFill>
              <a:srgbClr val="C9C3B8"/>
            </a:solidFill>
            <a:prstDash val="solid"/>
          </a:ln>
        </p:spPr>
        <p:txBody>
          <a:bodyPr/>
          <a:lstStyle/>
          <a:p>
            <a:endParaRPr lang="en-US"/>
          </a:p>
        </p:txBody>
      </p:sp>
      <p:sp>
        <p:nvSpPr>
          <p:cNvPr id="21" name="Text 19"/>
          <p:cNvSpPr/>
          <p:nvPr/>
        </p:nvSpPr>
        <p:spPr>
          <a:xfrm>
            <a:off x="6400800" y="2103120"/>
            <a:ext cx="521208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Class distribution (training set)</a:t>
            </a:r>
            <a:endParaRPr lang="en-US" sz="1200" dirty="0"/>
          </a:p>
        </p:txBody>
      </p:sp>
      <p:graphicFrame>
        <p:nvGraphicFramePr>
          <p:cNvPr id="22" name="Chart 0"/>
          <p:cNvGraphicFramePr/>
          <p:nvPr/>
        </p:nvGraphicFramePr>
        <p:xfrm>
          <a:off x="6309360" y="2377440"/>
          <a:ext cx="54864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548640" y="5760720"/>
            <a:ext cx="11064240" cy="502920"/>
          </a:xfrm>
          <a:prstGeom prst="rect">
            <a:avLst/>
          </a:prstGeom>
          <a:solidFill>
            <a:srgbClr val="FFFFFF"/>
          </a:solidFill>
          <a:ln w="9525">
            <a:solidFill>
              <a:srgbClr val="D4A84B"/>
            </a:solidFill>
            <a:prstDash val="solid"/>
          </a:ln>
        </p:spPr>
        <p:txBody>
          <a:bodyPr/>
          <a:lstStyle/>
          <a:p>
            <a:endParaRPr lang="en-US"/>
          </a:p>
        </p:txBody>
      </p:sp>
      <p:sp>
        <p:nvSpPr>
          <p:cNvPr id="24" name="Shape 21"/>
          <p:cNvSpPr/>
          <p:nvPr/>
        </p:nvSpPr>
        <p:spPr>
          <a:xfrm>
            <a:off x="548640" y="5760720"/>
            <a:ext cx="73152" cy="502920"/>
          </a:xfrm>
          <a:prstGeom prst="rect">
            <a:avLst/>
          </a:prstGeom>
          <a:solidFill>
            <a:srgbClr val="D4A84B"/>
          </a:solidFill>
          <a:ln/>
        </p:spPr>
        <p:txBody>
          <a:bodyPr/>
          <a:lstStyle/>
          <a:p>
            <a:endParaRPr lang="en-US"/>
          </a:p>
        </p:txBody>
      </p:sp>
      <p:sp>
        <p:nvSpPr>
          <p:cNvPr id="25" name="Text 22"/>
          <p:cNvSpPr/>
          <p:nvPr/>
        </p:nvSpPr>
        <p:spPr>
          <a:xfrm>
            <a:off x="777240" y="5760720"/>
            <a:ext cx="10789920" cy="502920"/>
          </a:xfrm>
          <a:prstGeom prst="rect">
            <a:avLst/>
          </a:prstGeom>
          <a:noFill/>
          <a:ln/>
        </p:spPr>
        <p:txBody>
          <a:bodyPr wrap="square" rtlCol="0" anchor="ctr"/>
          <a:lstStyle/>
          <a:p>
            <a:pPr marL="0" indent="0">
              <a:buNone/>
            </a:pPr>
            <a:r>
              <a:rPr lang="en-US" sz="1200" i="1" dirty="0">
                <a:solidFill>
                  <a:srgbClr val="1A1A2E"/>
                </a:solidFill>
                <a:latin typeface="Calibri" pitchFamily="34" charset="0"/>
                <a:ea typeface="Calibri" pitchFamily="34" charset="-122"/>
                <a:cs typeface="Calibri" pitchFamily="34" charset="-120"/>
              </a:rPr>
              <a:t>Observation — data is imbalanced: "Irrelevant" has ~42% fewer samples than "Negative," which motivates weighted F1 as our primary metric.</a:t>
            </a:r>
            <a:endParaRPr lang="en-US" sz="1200" dirty="0"/>
          </a:p>
        </p:txBody>
      </p:sp>
      <p:sp>
        <p:nvSpPr>
          <p:cNvPr id="26" name="Text 23"/>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27" name="Text 24"/>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04 · METHODS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Preprocessing pipeline</a:t>
            </a:r>
            <a:endParaRPr lang="en-US" sz="3600" dirty="0"/>
          </a:p>
        </p:txBody>
      </p:sp>
      <p:sp>
        <p:nvSpPr>
          <p:cNvPr id="4" name="Shape 2"/>
          <p:cNvSpPr/>
          <p:nvPr/>
        </p:nvSpPr>
        <p:spPr>
          <a:xfrm>
            <a:off x="548640" y="1691640"/>
            <a:ext cx="1371600" cy="0"/>
          </a:xfrm>
          <a:prstGeom prst="line">
            <a:avLst/>
          </a:prstGeom>
          <a:noFill/>
          <a:ln w="9525">
            <a:solidFill>
              <a:srgbClr val="E87461"/>
            </a:solidFill>
            <a:prstDash val="solid"/>
          </a:ln>
        </p:spPr>
        <p:txBody>
          <a:bodyPr/>
          <a:lstStyle/>
          <a:p>
            <a:endParaRPr lang="en-US"/>
          </a:p>
        </p:txBody>
      </p:sp>
      <p:sp>
        <p:nvSpPr>
          <p:cNvPr id="5" name="Shape 3"/>
          <p:cNvSpPr/>
          <p:nvPr/>
        </p:nvSpPr>
        <p:spPr>
          <a:xfrm>
            <a:off x="548640" y="2194560"/>
            <a:ext cx="2103120" cy="2011680"/>
          </a:xfrm>
          <a:prstGeom prst="rect">
            <a:avLst/>
          </a:prstGeom>
          <a:solidFill>
            <a:srgbClr val="FFFFFF"/>
          </a:solidFill>
          <a:ln w="9525">
            <a:solidFill>
              <a:srgbClr val="C9C3B8"/>
            </a:solidFill>
            <a:prstDash val="solid"/>
          </a:ln>
        </p:spPr>
        <p:txBody>
          <a:bodyPr/>
          <a:lstStyle/>
          <a:p>
            <a:endParaRPr lang="en-US"/>
          </a:p>
        </p:txBody>
      </p:sp>
      <p:sp>
        <p:nvSpPr>
          <p:cNvPr id="6" name="Shape 4"/>
          <p:cNvSpPr/>
          <p:nvPr/>
        </p:nvSpPr>
        <p:spPr>
          <a:xfrm>
            <a:off x="548640" y="2194560"/>
            <a:ext cx="2103120" cy="457200"/>
          </a:xfrm>
          <a:prstGeom prst="rect">
            <a:avLst/>
          </a:prstGeom>
          <a:solidFill>
            <a:srgbClr val="101321"/>
          </a:solidFill>
          <a:ln/>
        </p:spPr>
        <p:txBody>
          <a:bodyPr/>
          <a:lstStyle/>
          <a:p>
            <a:endParaRPr lang="en-US"/>
          </a:p>
        </p:txBody>
      </p:sp>
      <p:sp>
        <p:nvSpPr>
          <p:cNvPr id="7" name="Text 5"/>
          <p:cNvSpPr/>
          <p:nvPr/>
        </p:nvSpPr>
        <p:spPr>
          <a:xfrm>
            <a:off x="685800" y="2240280"/>
            <a:ext cx="1828800" cy="365760"/>
          </a:xfrm>
          <a:prstGeom prst="rect">
            <a:avLst/>
          </a:prstGeom>
          <a:noFill/>
          <a:ln/>
        </p:spPr>
        <p:txBody>
          <a:bodyPr wrap="square" rtlCol="0" anchor="ctr"/>
          <a:lstStyle/>
          <a:p>
            <a:pPr marL="0" indent="0">
              <a:buNone/>
            </a:pPr>
            <a:r>
              <a:rPr lang="en-US" sz="1000" b="1" kern="0" spc="300" dirty="0">
                <a:solidFill>
                  <a:srgbClr val="E87461"/>
                </a:solidFill>
                <a:latin typeface="Calibri" pitchFamily="34" charset="0"/>
                <a:ea typeface="Calibri" pitchFamily="34" charset="-122"/>
                <a:cs typeface="Calibri" pitchFamily="34" charset="-120"/>
              </a:rPr>
              <a:t>STEP 1</a:t>
            </a:r>
            <a:endParaRPr lang="en-US" sz="1000" dirty="0"/>
          </a:p>
        </p:txBody>
      </p:sp>
      <p:sp>
        <p:nvSpPr>
          <p:cNvPr id="8" name="Text 6"/>
          <p:cNvSpPr/>
          <p:nvPr/>
        </p:nvSpPr>
        <p:spPr>
          <a:xfrm>
            <a:off x="685800" y="2834640"/>
            <a:ext cx="1828800" cy="457200"/>
          </a:xfrm>
          <a:prstGeom prst="rect">
            <a:avLst/>
          </a:prstGeom>
          <a:noFill/>
          <a:ln/>
        </p:spPr>
        <p:txBody>
          <a:bodyPr wrap="square" rtlCol="0" anchor="ctr"/>
          <a:lstStyle/>
          <a:p>
            <a:pPr marL="0" indent="0">
              <a:buNone/>
            </a:pPr>
            <a:r>
              <a:rPr lang="en-US" sz="1800" b="1" dirty="0">
                <a:solidFill>
                  <a:srgbClr val="1A1A2E"/>
                </a:solidFill>
                <a:latin typeface="Georgia" pitchFamily="34" charset="0"/>
                <a:ea typeface="Georgia" pitchFamily="34" charset="-122"/>
                <a:cs typeface="Georgia" pitchFamily="34" charset="-120"/>
              </a:rPr>
              <a:t>Clean</a:t>
            </a:r>
            <a:endParaRPr lang="en-US" sz="1800" dirty="0"/>
          </a:p>
        </p:txBody>
      </p:sp>
      <p:sp>
        <p:nvSpPr>
          <p:cNvPr id="9" name="Text 7"/>
          <p:cNvSpPr/>
          <p:nvPr/>
        </p:nvSpPr>
        <p:spPr>
          <a:xfrm>
            <a:off x="685800" y="3337560"/>
            <a:ext cx="1828800" cy="7772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Drop nulls, strip URLs, normalize whitespace</a:t>
            </a:r>
            <a:endParaRPr lang="en-US" sz="1100" dirty="0"/>
          </a:p>
        </p:txBody>
      </p:sp>
      <p:sp>
        <p:nvSpPr>
          <p:cNvPr id="10" name="Shape 8"/>
          <p:cNvSpPr/>
          <p:nvPr/>
        </p:nvSpPr>
        <p:spPr>
          <a:xfrm>
            <a:off x="2761488" y="2194560"/>
            <a:ext cx="2103120" cy="2011680"/>
          </a:xfrm>
          <a:prstGeom prst="rect">
            <a:avLst/>
          </a:prstGeom>
          <a:solidFill>
            <a:srgbClr val="FFFFFF"/>
          </a:solidFill>
          <a:ln w="9525">
            <a:solidFill>
              <a:srgbClr val="C9C3B8"/>
            </a:solidFill>
            <a:prstDash val="solid"/>
          </a:ln>
        </p:spPr>
        <p:txBody>
          <a:bodyPr/>
          <a:lstStyle/>
          <a:p>
            <a:endParaRPr lang="en-US"/>
          </a:p>
        </p:txBody>
      </p:sp>
      <p:sp>
        <p:nvSpPr>
          <p:cNvPr id="11" name="Shape 9"/>
          <p:cNvSpPr/>
          <p:nvPr/>
        </p:nvSpPr>
        <p:spPr>
          <a:xfrm>
            <a:off x="2761488" y="2194560"/>
            <a:ext cx="2103120" cy="457200"/>
          </a:xfrm>
          <a:prstGeom prst="rect">
            <a:avLst/>
          </a:prstGeom>
          <a:solidFill>
            <a:srgbClr val="101321"/>
          </a:solidFill>
          <a:ln/>
        </p:spPr>
        <p:txBody>
          <a:bodyPr/>
          <a:lstStyle/>
          <a:p>
            <a:endParaRPr lang="en-US"/>
          </a:p>
        </p:txBody>
      </p:sp>
      <p:sp>
        <p:nvSpPr>
          <p:cNvPr id="12" name="Text 10"/>
          <p:cNvSpPr/>
          <p:nvPr/>
        </p:nvSpPr>
        <p:spPr>
          <a:xfrm>
            <a:off x="2898648" y="2240280"/>
            <a:ext cx="1828800" cy="365760"/>
          </a:xfrm>
          <a:prstGeom prst="rect">
            <a:avLst/>
          </a:prstGeom>
          <a:noFill/>
          <a:ln/>
        </p:spPr>
        <p:txBody>
          <a:bodyPr wrap="square" rtlCol="0" anchor="ctr"/>
          <a:lstStyle/>
          <a:p>
            <a:pPr marL="0" indent="0">
              <a:buNone/>
            </a:pPr>
            <a:r>
              <a:rPr lang="en-US" sz="1000" b="1" kern="0" spc="300" dirty="0">
                <a:solidFill>
                  <a:srgbClr val="E87461"/>
                </a:solidFill>
                <a:latin typeface="Calibri" pitchFamily="34" charset="0"/>
                <a:ea typeface="Calibri" pitchFamily="34" charset="-122"/>
                <a:cs typeface="Calibri" pitchFamily="34" charset="-120"/>
              </a:rPr>
              <a:t>STEP 2</a:t>
            </a:r>
            <a:endParaRPr lang="en-US" sz="1000" dirty="0"/>
          </a:p>
        </p:txBody>
      </p:sp>
      <p:sp>
        <p:nvSpPr>
          <p:cNvPr id="13" name="Text 11"/>
          <p:cNvSpPr/>
          <p:nvPr/>
        </p:nvSpPr>
        <p:spPr>
          <a:xfrm>
            <a:off x="2898648" y="2834640"/>
            <a:ext cx="1828800" cy="457200"/>
          </a:xfrm>
          <a:prstGeom prst="rect">
            <a:avLst/>
          </a:prstGeom>
          <a:noFill/>
          <a:ln/>
        </p:spPr>
        <p:txBody>
          <a:bodyPr wrap="square" rtlCol="0" anchor="ctr"/>
          <a:lstStyle/>
          <a:p>
            <a:pPr marL="0" indent="0">
              <a:buNone/>
            </a:pPr>
            <a:r>
              <a:rPr lang="en-US" sz="1800" b="1" dirty="0">
                <a:solidFill>
                  <a:srgbClr val="1A1A2E"/>
                </a:solidFill>
                <a:latin typeface="Georgia" pitchFamily="34" charset="0"/>
                <a:ea typeface="Georgia" pitchFamily="34" charset="-122"/>
                <a:cs typeface="Georgia" pitchFamily="34" charset="-120"/>
              </a:rPr>
              <a:t>Lowercase</a:t>
            </a:r>
            <a:endParaRPr lang="en-US" sz="1800" dirty="0"/>
          </a:p>
        </p:txBody>
      </p:sp>
      <p:sp>
        <p:nvSpPr>
          <p:cNvPr id="14" name="Text 12"/>
          <p:cNvSpPr/>
          <p:nvPr/>
        </p:nvSpPr>
        <p:spPr>
          <a:xfrm>
            <a:off x="2898648" y="3337560"/>
            <a:ext cx="1828800" cy="7772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Uniform case (uncased model)</a:t>
            </a:r>
            <a:endParaRPr lang="en-US" sz="1100" dirty="0"/>
          </a:p>
        </p:txBody>
      </p:sp>
      <p:sp>
        <p:nvSpPr>
          <p:cNvPr id="15" name="Shape 13"/>
          <p:cNvSpPr/>
          <p:nvPr/>
        </p:nvSpPr>
        <p:spPr>
          <a:xfrm>
            <a:off x="4974336" y="2194560"/>
            <a:ext cx="2103120" cy="2011680"/>
          </a:xfrm>
          <a:prstGeom prst="rect">
            <a:avLst/>
          </a:prstGeom>
          <a:solidFill>
            <a:srgbClr val="FFFFFF"/>
          </a:solidFill>
          <a:ln w="9525">
            <a:solidFill>
              <a:srgbClr val="C9C3B8"/>
            </a:solidFill>
            <a:prstDash val="solid"/>
          </a:ln>
        </p:spPr>
        <p:txBody>
          <a:bodyPr/>
          <a:lstStyle/>
          <a:p>
            <a:endParaRPr lang="en-US"/>
          </a:p>
        </p:txBody>
      </p:sp>
      <p:sp>
        <p:nvSpPr>
          <p:cNvPr id="16" name="Shape 14"/>
          <p:cNvSpPr/>
          <p:nvPr/>
        </p:nvSpPr>
        <p:spPr>
          <a:xfrm>
            <a:off x="4974336" y="2194560"/>
            <a:ext cx="2103120" cy="457200"/>
          </a:xfrm>
          <a:prstGeom prst="rect">
            <a:avLst/>
          </a:prstGeom>
          <a:solidFill>
            <a:srgbClr val="101321"/>
          </a:solidFill>
          <a:ln/>
        </p:spPr>
        <p:txBody>
          <a:bodyPr/>
          <a:lstStyle/>
          <a:p>
            <a:endParaRPr lang="en-US"/>
          </a:p>
        </p:txBody>
      </p:sp>
      <p:sp>
        <p:nvSpPr>
          <p:cNvPr id="17" name="Text 15"/>
          <p:cNvSpPr/>
          <p:nvPr/>
        </p:nvSpPr>
        <p:spPr>
          <a:xfrm>
            <a:off x="5111496" y="2240280"/>
            <a:ext cx="1828800" cy="365760"/>
          </a:xfrm>
          <a:prstGeom prst="rect">
            <a:avLst/>
          </a:prstGeom>
          <a:noFill/>
          <a:ln/>
        </p:spPr>
        <p:txBody>
          <a:bodyPr wrap="square" rtlCol="0" anchor="ctr"/>
          <a:lstStyle/>
          <a:p>
            <a:pPr marL="0" indent="0">
              <a:buNone/>
            </a:pPr>
            <a:r>
              <a:rPr lang="en-US" sz="1000" b="1" kern="0" spc="300" dirty="0">
                <a:solidFill>
                  <a:srgbClr val="E87461"/>
                </a:solidFill>
                <a:latin typeface="Calibri" pitchFamily="34" charset="0"/>
                <a:ea typeface="Calibri" pitchFamily="34" charset="-122"/>
                <a:cs typeface="Calibri" pitchFamily="34" charset="-120"/>
              </a:rPr>
              <a:t>STEP 3</a:t>
            </a:r>
            <a:endParaRPr lang="en-US" sz="1000" dirty="0"/>
          </a:p>
        </p:txBody>
      </p:sp>
      <p:sp>
        <p:nvSpPr>
          <p:cNvPr id="18" name="Text 16"/>
          <p:cNvSpPr/>
          <p:nvPr/>
        </p:nvSpPr>
        <p:spPr>
          <a:xfrm>
            <a:off x="5111496" y="2834640"/>
            <a:ext cx="1828800" cy="457200"/>
          </a:xfrm>
          <a:prstGeom prst="rect">
            <a:avLst/>
          </a:prstGeom>
          <a:noFill/>
          <a:ln/>
        </p:spPr>
        <p:txBody>
          <a:bodyPr wrap="square" rtlCol="0" anchor="ctr"/>
          <a:lstStyle/>
          <a:p>
            <a:pPr marL="0" indent="0">
              <a:buNone/>
            </a:pPr>
            <a:r>
              <a:rPr lang="en-US" sz="1800" b="1" dirty="0">
                <a:solidFill>
                  <a:srgbClr val="1A1A2E"/>
                </a:solidFill>
                <a:latin typeface="Georgia" pitchFamily="34" charset="0"/>
                <a:ea typeface="Georgia" pitchFamily="34" charset="-122"/>
                <a:cs typeface="Georgia" pitchFamily="34" charset="-120"/>
              </a:rPr>
              <a:t>Tokenize</a:t>
            </a:r>
            <a:endParaRPr lang="en-US" sz="1800" dirty="0"/>
          </a:p>
        </p:txBody>
      </p:sp>
      <p:sp>
        <p:nvSpPr>
          <p:cNvPr id="19" name="Text 17"/>
          <p:cNvSpPr/>
          <p:nvPr/>
        </p:nvSpPr>
        <p:spPr>
          <a:xfrm>
            <a:off x="5111496" y="3337560"/>
            <a:ext cx="1828800" cy="7772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WordPiece subword tokenization</a:t>
            </a:r>
            <a:endParaRPr lang="en-US" sz="1100" dirty="0"/>
          </a:p>
        </p:txBody>
      </p:sp>
      <p:sp>
        <p:nvSpPr>
          <p:cNvPr id="20" name="Shape 18"/>
          <p:cNvSpPr/>
          <p:nvPr/>
        </p:nvSpPr>
        <p:spPr>
          <a:xfrm>
            <a:off x="7187184" y="2194560"/>
            <a:ext cx="2103120" cy="2011680"/>
          </a:xfrm>
          <a:prstGeom prst="rect">
            <a:avLst/>
          </a:prstGeom>
          <a:solidFill>
            <a:srgbClr val="FFFFFF"/>
          </a:solidFill>
          <a:ln w="9525">
            <a:solidFill>
              <a:srgbClr val="C9C3B8"/>
            </a:solidFill>
            <a:prstDash val="solid"/>
          </a:ln>
        </p:spPr>
        <p:txBody>
          <a:bodyPr/>
          <a:lstStyle/>
          <a:p>
            <a:endParaRPr lang="en-US"/>
          </a:p>
        </p:txBody>
      </p:sp>
      <p:sp>
        <p:nvSpPr>
          <p:cNvPr id="21" name="Shape 19"/>
          <p:cNvSpPr/>
          <p:nvPr/>
        </p:nvSpPr>
        <p:spPr>
          <a:xfrm>
            <a:off x="7187184" y="2194560"/>
            <a:ext cx="2103120" cy="457200"/>
          </a:xfrm>
          <a:prstGeom prst="rect">
            <a:avLst/>
          </a:prstGeom>
          <a:solidFill>
            <a:srgbClr val="101321"/>
          </a:solidFill>
          <a:ln/>
        </p:spPr>
        <p:txBody>
          <a:bodyPr/>
          <a:lstStyle/>
          <a:p>
            <a:endParaRPr lang="en-US"/>
          </a:p>
        </p:txBody>
      </p:sp>
      <p:sp>
        <p:nvSpPr>
          <p:cNvPr id="22" name="Text 20"/>
          <p:cNvSpPr/>
          <p:nvPr/>
        </p:nvSpPr>
        <p:spPr>
          <a:xfrm>
            <a:off x="7324344" y="2240280"/>
            <a:ext cx="1828800" cy="365760"/>
          </a:xfrm>
          <a:prstGeom prst="rect">
            <a:avLst/>
          </a:prstGeom>
          <a:noFill/>
          <a:ln/>
        </p:spPr>
        <p:txBody>
          <a:bodyPr wrap="square" rtlCol="0" anchor="ctr"/>
          <a:lstStyle/>
          <a:p>
            <a:pPr marL="0" indent="0">
              <a:buNone/>
            </a:pPr>
            <a:r>
              <a:rPr lang="en-US" sz="1000" b="1" kern="0" spc="300" dirty="0">
                <a:solidFill>
                  <a:srgbClr val="E87461"/>
                </a:solidFill>
                <a:latin typeface="Calibri" pitchFamily="34" charset="0"/>
                <a:ea typeface="Calibri" pitchFamily="34" charset="-122"/>
                <a:cs typeface="Calibri" pitchFamily="34" charset="-120"/>
              </a:rPr>
              <a:t>STEP 4</a:t>
            </a:r>
            <a:endParaRPr lang="en-US" sz="1000" dirty="0"/>
          </a:p>
        </p:txBody>
      </p:sp>
      <p:sp>
        <p:nvSpPr>
          <p:cNvPr id="23" name="Text 21"/>
          <p:cNvSpPr/>
          <p:nvPr/>
        </p:nvSpPr>
        <p:spPr>
          <a:xfrm>
            <a:off x="7324344" y="2834640"/>
            <a:ext cx="1828800" cy="457200"/>
          </a:xfrm>
          <a:prstGeom prst="rect">
            <a:avLst/>
          </a:prstGeom>
          <a:noFill/>
          <a:ln/>
        </p:spPr>
        <p:txBody>
          <a:bodyPr wrap="square" rtlCol="0" anchor="ctr"/>
          <a:lstStyle/>
          <a:p>
            <a:pPr marL="0" indent="0">
              <a:buNone/>
            </a:pPr>
            <a:r>
              <a:rPr lang="en-US" sz="1800" b="1" dirty="0">
                <a:solidFill>
                  <a:srgbClr val="1A1A2E"/>
                </a:solidFill>
                <a:latin typeface="Georgia" pitchFamily="34" charset="0"/>
                <a:ea typeface="Georgia" pitchFamily="34" charset="-122"/>
                <a:cs typeface="Georgia" pitchFamily="34" charset="-120"/>
              </a:rPr>
              <a:t>Pad/Truncate</a:t>
            </a:r>
            <a:endParaRPr lang="en-US" sz="1800" dirty="0"/>
          </a:p>
        </p:txBody>
      </p:sp>
      <p:sp>
        <p:nvSpPr>
          <p:cNvPr id="24" name="Text 22"/>
          <p:cNvSpPr/>
          <p:nvPr/>
        </p:nvSpPr>
        <p:spPr>
          <a:xfrm>
            <a:off x="7324344" y="3337560"/>
            <a:ext cx="1828800" cy="7772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Fix length to 64 tokens</a:t>
            </a:r>
            <a:endParaRPr lang="en-US" sz="1100" dirty="0"/>
          </a:p>
        </p:txBody>
      </p:sp>
      <p:sp>
        <p:nvSpPr>
          <p:cNvPr id="25" name="Shape 23"/>
          <p:cNvSpPr/>
          <p:nvPr/>
        </p:nvSpPr>
        <p:spPr>
          <a:xfrm>
            <a:off x="9400032" y="2194560"/>
            <a:ext cx="2103120" cy="2011680"/>
          </a:xfrm>
          <a:prstGeom prst="rect">
            <a:avLst/>
          </a:prstGeom>
          <a:solidFill>
            <a:srgbClr val="FFFFFF"/>
          </a:solidFill>
          <a:ln w="9525">
            <a:solidFill>
              <a:srgbClr val="C9C3B8"/>
            </a:solidFill>
            <a:prstDash val="solid"/>
          </a:ln>
        </p:spPr>
        <p:txBody>
          <a:bodyPr/>
          <a:lstStyle/>
          <a:p>
            <a:endParaRPr lang="en-US"/>
          </a:p>
        </p:txBody>
      </p:sp>
      <p:sp>
        <p:nvSpPr>
          <p:cNvPr id="26" name="Shape 24"/>
          <p:cNvSpPr/>
          <p:nvPr/>
        </p:nvSpPr>
        <p:spPr>
          <a:xfrm>
            <a:off x="9400032" y="2194560"/>
            <a:ext cx="2103120" cy="457200"/>
          </a:xfrm>
          <a:prstGeom prst="rect">
            <a:avLst/>
          </a:prstGeom>
          <a:solidFill>
            <a:srgbClr val="101321"/>
          </a:solidFill>
          <a:ln/>
        </p:spPr>
        <p:txBody>
          <a:bodyPr/>
          <a:lstStyle/>
          <a:p>
            <a:endParaRPr lang="en-US"/>
          </a:p>
        </p:txBody>
      </p:sp>
      <p:sp>
        <p:nvSpPr>
          <p:cNvPr id="27" name="Text 25"/>
          <p:cNvSpPr/>
          <p:nvPr/>
        </p:nvSpPr>
        <p:spPr>
          <a:xfrm>
            <a:off x="9537192" y="2240280"/>
            <a:ext cx="1828800" cy="365760"/>
          </a:xfrm>
          <a:prstGeom prst="rect">
            <a:avLst/>
          </a:prstGeom>
          <a:noFill/>
          <a:ln/>
        </p:spPr>
        <p:txBody>
          <a:bodyPr wrap="square" rtlCol="0" anchor="ctr"/>
          <a:lstStyle/>
          <a:p>
            <a:pPr marL="0" indent="0">
              <a:buNone/>
            </a:pPr>
            <a:r>
              <a:rPr lang="en-US" sz="1000" b="1" kern="0" spc="300" dirty="0">
                <a:solidFill>
                  <a:srgbClr val="E87461"/>
                </a:solidFill>
                <a:latin typeface="Calibri" pitchFamily="34" charset="0"/>
                <a:ea typeface="Calibri" pitchFamily="34" charset="-122"/>
                <a:cs typeface="Calibri" pitchFamily="34" charset="-120"/>
              </a:rPr>
              <a:t>STEP 5</a:t>
            </a:r>
            <a:endParaRPr lang="en-US" sz="1000" dirty="0"/>
          </a:p>
        </p:txBody>
      </p:sp>
      <p:sp>
        <p:nvSpPr>
          <p:cNvPr id="28" name="Text 26"/>
          <p:cNvSpPr/>
          <p:nvPr/>
        </p:nvSpPr>
        <p:spPr>
          <a:xfrm>
            <a:off x="9537192" y="2834640"/>
            <a:ext cx="1828800" cy="457200"/>
          </a:xfrm>
          <a:prstGeom prst="rect">
            <a:avLst/>
          </a:prstGeom>
          <a:noFill/>
          <a:ln/>
        </p:spPr>
        <p:txBody>
          <a:bodyPr wrap="square" rtlCol="0" anchor="ctr"/>
          <a:lstStyle/>
          <a:p>
            <a:pPr marL="0" indent="0">
              <a:buNone/>
            </a:pPr>
            <a:r>
              <a:rPr lang="en-US" sz="1800" b="1" dirty="0">
                <a:solidFill>
                  <a:srgbClr val="1A1A2E"/>
                </a:solidFill>
                <a:latin typeface="Georgia" pitchFamily="34" charset="0"/>
                <a:ea typeface="Georgia" pitchFamily="34" charset="-122"/>
                <a:cs typeface="Georgia" pitchFamily="34" charset="-120"/>
              </a:rPr>
              <a:t>Encode</a:t>
            </a:r>
            <a:endParaRPr lang="en-US" sz="1800" dirty="0"/>
          </a:p>
        </p:txBody>
      </p:sp>
      <p:sp>
        <p:nvSpPr>
          <p:cNvPr id="29" name="Text 27"/>
          <p:cNvSpPr/>
          <p:nvPr/>
        </p:nvSpPr>
        <p:spPr>
          <a:xfrm>
            <a:off x="9537192" y="3337560"/>
            <a:ext cx="1828800" cy="77724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Input IDs + attention mask</a:t>
            </a:r>
            <a:endParaRPr lang="en-US" sz="1100" dirty="0"/>
          </a:p>
        </p:txBody>
      </p:sp>
      <p:sp>
        <p:nvSpPr>
          <p:cNvPr id="30" name="Shape 28"/>
          <p:cNvSpPr/>
          <p:nvPr/>
        </p:nvSpPr>
        <p:spPr>
          <a:xfrm>
            <a:off x="548640" y="4663440"/>
            <a:ext cx="11064240" cy="1600200"/>
          </a:xfrm>
          <a:prstGeom prst="rect">
            <a:avLst/>
          </a:prstGeom>
          <a:solidFill>
            <a:srgbClr val="EEE9DD"/>
          </a:solidFill>
          <a:ln/>
        </p:spPr>
        <p:txBody>
          <a:bodyPr/>
          <a:lstStyle/>
          <a:p>
            <a:endParaRPr lang="en-US"/>
          </a:p>
        </p:txBody>
      </p:sp>
      <p:sp>
        <p:nvSpPr>
          <p:cNvPr id="31" name="Text 29"/>
          <p:cNvSpPr/>
          <p:nvPr/>
        </p:nvSpPr>
        <p:spPr>
          <a:xfrm>
            <a:off x="777240" y="4754880"/>
            <a:ext cx="10789920" cy="365760"/>
          </a:xfrm>
          <a:prstGeom prst="rect">
            <a:avLst/>
          </a:prstGeom>
          <a:noFill/>
          <a:ln/>
        </p:spPr>
        <p:txBody>
          <a:bodyPr wrap="square" rtlCol="0" anchor="ctr"/>
          <a:lstStyle/>
          <a:p>
            <a:pPr marL="0" indent="0">
              <a:buNone/>
            </a:pPr>
            <a:r>
              <a:rPr lang="en-US" sz="1400" b="1" dirty="0">
                <a:solidFill>
                  <a:srgbClr val="1A1A2E"/>
                </a:solidFill>
                <a:latin typeface="Georgia" pitchFamily="34" charset="0"/>
                <a:ea typeface="Georgia" pitchFamily="34" charset="-122"/>
                <a:cs typeface="Georgia" pitchFamily="34" charset="-120"/>
              </a:rPr>
              <a:t>Why WordPiece matters for tweets</a:t>
            </a:r>
            <a:endParaRPr lang="en-US" sz="1400" dirty="0"/>
          </a:p>
        </p:txBody>
      </p:sp>
      <p:sp>
        <p:nvSpPr>
          <p:cNvPr id="32" name="Text 30"/>
          <p:cNvSpPr/>
          <p:nvPr/>
        </p:nvSpPr>
        <p:spPr>
          <a:xfrm>
            <a:off x="777240" y="5074920"/>
            <a:ext cx="10789920" cy="1143000"/>
          </a:xfrm>
          <a:prstGeom prst="rect">
            <a:avLst/>
          </a:prstGeom>
          <a:noFill/>
          <a:ln/>
        </p:spPr>
        <p:txBody>
          <a:bodyPr wrap="square"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  Slang &amp; misspellings split into subwords instead of &lt;UNK&gt;     •  Hashtags tokenized as meaningful fragments     </a:t>
            </a:r>
            <a:endParaRPr lang="en-US" sz="1200" dirty="0"/>
          </a:p>
          <a:p>
            <a:pPr marL="0" indent="0">
              <a:spcAft>
                <a:spcPts val="400"/>
              </a:spcAft>
              <a:buNone/>
            </a:pPr>
            <a:r>
              <a:rPr lang="en-US" sz="1200" b="1" dirty="0">
                <a:solidFill>
                  <a:srgbClr val="3E8989"/>
                </a:solidFill>
                <a:latin typeface="Calibri" pitchFamily="34" charset="0"/>
                <a:ea typeface="Calibri" pitchFamily="34" charset="-122"/>
                <a:cs typeface="Calibri" pitchFamily="34" charset="-120"/>
              </a:rPr>
              <a:t>•  Input IDs shape: torch.Size([64])     •  Attention mask distinguishes real tokens from padding</a:t>
            </a:r>
            <a:endParaRPr lang="en-US" sz="1200" dirty="0"/>
          </a:p>
        </p:txBody>
      </p:sp>
      <p:sp>
        <p:nvSpPr>
          <p:cNvPr id="33" name="Text 31"/>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34" name="Text 32"/>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05 · METHODS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Models compared</a:t>
            </a:r>
            <a:endParaRPr lang="en-US" sz="3600" dirty="0"/>
          </a:p>
        </p:txBody>
      </p:sp>
      <p:sp>
        <p:nvSpPr>
          <p:cNvPr id="4" name="Shape 2"/>
          <p:cNvSpPr/>
          <p:nvPr/>
        </p:nvSpPr>
        <p:spPr>
          <a:xfrm>
            <a:off x="548640" y="1691640"/>
            <a:ext cx="1371600" cy="0"/>
          </a:xfrm>
          <a:prstGeom prst="line">
            <a:avLst/>
          </a:prstGeom>
          <a:noFill/>
          <a:ln w="9525">
            <a:solidFill>
              <a:srgbClr val="E87461"/>
            </a:solidFill>
            <a:prstDash val="solid"/>
          </a:ln>
        </p:spPr>
        <p:txBody>
          <a:bodyPr/>
          <a:lstStyle/>
          <a:p>
            <a:endParaRPr lang="en-US"/>
          </a:p>
        </p:txBody>
      </p:sp>
      <p:sp>
        <p:nvSpPr>
          <p:cNvPr id="5" name="Shape 3"/>
          <p:cNvSpPr/>
          <p:nvPr/>
        </p:nvSpPr>
        <p:spPr>
          <a:xfrm>
            <a:off x="548640" y="2103120"/>
            <a:ext cx="3611880" cy="4023360"/>
          </a:xfrm>
          <a:prstGeom prst="rect">
            <a:avLst/>
          </a:prstGeom>
          <a:solidFill>
            <a:srgbClr val="FFFFFF"/>
          </a:solidFill>
          <a:ln w="9525">
            <a:solidFill>
              <a:srgbClr val="C9C3B8"/>
            </a:solidFill>
            <a:prstDash val="solid"/>
          </a:ln>
        </p:spPr>
        <p:txBody>
          <a:bodyPr/>
          <a:lstStyle/>
          <a:p>
            <a:endParaRPr lang="en-US"/>
          </a:p>
        </p:txBody>
      </p:sp>
      <p:sp>
        <p:nvSpPr>
          <p:cNvPr id="6" name="Shape 4"/>
          <p:cNvSpPr/>
          <p:nvPr/>
        </p:nvSpPr>
        <p:spPr>
          <a:xfrm>
            <a:off x="548640" y="2103120"/>
            <a:ext cx="91440" cy="4023360"/>
          </a:xfrm>
          <a:prstGeom prst="rect">
            <a:avLst/>
          </a:prstGeom>
          <a:solidFill>
            <a:srgbClr val="6B7280"/>
          </a:solidFill>
          <a:ln/>
        </p:spPr>
        <p:txBody>
          <a:bodyPr/>
          <a:lstStyle/>
          <a:p>
            <a:endParaRPr lang="en-US"/>
          </a:p>
        </p:txBody>
      </p:sp>
      <p:sp>
        <p:nvSpPr>
          <p:cNvPr id="7" name="Text 5"/>
          <p:cNvSpPr/>
          <p:nvPr/>
        </p:nvSpPr>
        <p:spPr>
          <a:xfrm>
            <a:off x="822960" y="2286000"/>
            <a:ext cx="3154680" cy="274320"/>
          </a:xfrm>
          <a:prstGeom prst="rect">
            <a:avLst/>
          </a:prstGeom>
          <a:noFill/>
          <a:ln/>
        </p:spPr>
        <p:txBody>
          <a:bodyPr wrap="square" rtlCol="0" anchor="ctr"/>
          <a:lstStyle/>
          <a:p>
            <a:pPr marL="0" indent="0">
              <a:buNone/>
            </a:pPr>
            <a:r>
              <a:rPr lang="en-US" sz="1000" b="1" kern="0" spc="400" dirty="0">
                <a:solidFill>
                  <a:srgbClr val="6B7280"/>
                </a:solidFill>
                <a:latin typeface="Calibri" pitchFamily="34" charset="0"/>
                <a:ea typeface="Calibri" pitchFamily="34" charset="-122"/>
                <a:cs typeface="Calibri" pitchFamily="34" charset="-120"/>
              </a:rPr>
              <a:t>BASELINE</a:t>
            </a:r>
            <a:endParaRPr lang="en-US" sz="1000" dirty="0"/>
          </a:p>
        </p:txBody>
      </p:sp>
      <p:sp>
        <p:nvSpPr>
          <p:cNvPr id="8" name="Text 6"/>
          <p:cNvSpPr/>
          <p:nvPr/>
        </p:nvSpPr>
        <p:spPr>
          <a:xfrm>
            <a:off x="822960" y="2560320"/>
            <a:ext cx="315468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TF-IDF + SVM</a:t>
            </a:r>
            <a:endParaRPr lang="en-US" sz="2200" dirty="0"/>
          </a:p>
        </p:txBody>
      </p:sp>
      <p:sp>
        <p:nvSpPr>
          <p:cNvPr id="9" name="Text 7"/>
          <p:cNvSpPr/>
          <p:nvPr/>
        </p:nvSpPr>
        <p:spPr>
          <a:xfrm>
            <a:off x="822960" y="3063240"/>
            <a:ext cx="3154680" cy="27432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Classical ML</a:t>
            </a:r>
            <a:endParaRPr lang="en-US" sz="1100" dirty="0"/>
          </a:p>
        </p:txBody>
      </p:sp>
      <p:sp>
        <p:nvSpPr>
          <p:cNvPr id="10" name="Shape 8"/>
          <p:cNvSpPr/>
          <p:nvPr/>
        </p:nvSpPr>
        <p:spPr>
          <a:xfrm>
            <a:off x="822960" y="3429000"/>
            <a:ext cx="3063240" cy="0"/>
          </a:xfrm>
          <a:prstGeom prst="line">
            <a:avLst/>
          </a:prstGeom>
          <a:noFill/>
          <a:ln w="6350">
            <a:solidFill>
              <a:srgbClr val="C9C3B8"/>
            </a:solidFill>
            <a:prstDash val="solid"/>
          </a:ln>
        </p:spPr>
        <p:txBody>
          <a:bodyPr/>
          <a:lstStyle/>
          <a:p>
            <a:endParaRPr lang="en-US"/>
          </a:p>
        </p:txBody>
      </p:sp>
      <p:sp>
        <p:nvSpPr>
          <p:cNvPr id="11" name="Text 9"/>
          <p:cNvSpPr/>
          <p:nvPr/>
        </p:nvSpPr>
        <p:spPr>
          <a:xfrm>
            <a:off x="822960" y="3566160"/>
            <a:ext cx="310896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Sparse n-gram features</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Linear SVM classifier</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Fast on CPU, no GPU needed</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No context between words</a:t>
            </a:r>
            <a:endParaRPr lang="en-US" sz="1200" dirty="0"/>
          </a:p>
        </p:txBody>
      </p:sp>
      <p:sp>
        <p:nvSpPr>
          <p:cNvPr id="12" name="Shape 10"/>
          <p:cNvSpPr/>
          <p:nvPr/>
        </p:nvSpPr>
        <p:spPr>
          <a:xfrm>
            <a:off x="4297680" y="2103120"/>
            <a:ext cx="3611880" cy="4023360"/>
          </a:xfrm>
          <a:prstGeom prst="rect">
            <a:avLst/>
          </a:prstGeom>
          <a:solidFill>
            <a:srgbClr val="FFFFFF"/>
          </a:solidFill>
          <a:ln w="9525">
            <a:solidFill>
              <a:srgbClr val="C9C3B8"/>
            </a:solidFill>
            <a:prstDash val="solid"/>
          </a:ln>
        </p:spPr>
        <p:txBody>
          <a:bodyPr/>
          <a:lstStyle/>
          <a:p>
            <a:endParaRPr lang="en-US"/>
          </a:p>
        </p:txBody>
      </p:sp>
      <p:sp>
        <p:nvSpPr>
          <p:cNvPr id="13" name="Shape 11"/>
          <p:cNvSpPr/>
          <p:nvPr/>
        </p:nvSpPr>
        <p:spPr>
          <a:xfrm>
            <a:off x="4297680" y="2103120"/>
            <a:ext cx="91440" cy="4023360"/>
          </a:xfrm>
          <a:prstGeom prst="rect">
            <a:avLst/>
          </a:prstGeom>
          <a:solidFill>
            <a:srgbClr val="3E8989"/>
          </a:solidFill>
          <a:ln/>
        </p:spPr>
        <p:txBody>
          <a:bodyPr/>
          <a:lstStyle/>
          <a:p>
            <a:endParaRPr lang="en-US"/>
          </a:p>
        </p:txBody>
      </p:sp>
      <p:sp>
        <p:nvSpPr>
          <p:cNvPr id="14" name="Text 12"/>
          <p:cNvSpPr/>
          <p:nvPr/>
        </p:nvSpPr>
        <p:spPr>
          <a:xfrm>
            <a:off x="4572000" y="2286000"/>
            <a:ext cx="3154680" cy="274320"/>
          </a:xfrm>
          <a:prstGeom prst="rect">
            <a:avLst/>
          </a:prstGeom>
          <a:noFill/>
          <a:ln/>
        </p:spPr>
        <p:txBody>
          <a:bodyPr wrap="square" rtlCol="0" anchor="ctr"/>
          <a:lstStyle/>
          <a:p>
            <a:pPr marL="0" indent="0">
              <a:buNone/>
            </a:pPr>
            <a:r>
              <a:rPr lang="en-US" sz="1000" b="1" kern="0" spc="400" dirty="0">
                <a:solidFill>
                  <a:srgbClr val="3E8989"/>
                </a:solidFill>
                <a:latin typeface="Calibri" pitchFamily="34" charset="0"/>
                <a:ea typeface="Calibri" pitchFamily="34" charset="-122"/>
                <a:cs typeface="Calibri" pitchFamily="34" charset="-120"/>
              </a:rPr>
              <a:t>CLASSICAL</a:t>
            </a:r>
            <a:endParaRPr lang="en-US" sz="1000" dirty="0"/>
          </a:p>
        </p:txBody>
      </p:sp>
      <p:sp>
        <p:nvSpPr>
          <p:cNvPr id="15" name="Text 13"/>
          <p:cNvSpPr/>
          <p:nvPr/>
        </p:nvSpPr>
        <p:spPr>
          <a:xfrm>
            <a:off x="4572000" y="2560320"/>
            <a:ext cx="315468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Logistic Regression</a:t>
            </a:r>
            <a:endParaRPr lang="en-US" sz="2200" dirty="0"/>
          </a:p>
        </p:txBody>
      </p:sp>
      <p:sp>
        <p:nvSpPr>
          <p:cNvPr id="16" name="Text 14"/>
          <p:cNvSpPr/>
          <p:nvPr/>
        </p:nvSpPr>
        <p:spPr>
          <a:xfrm>
            <a:off x="4572000" y="3063240"/>
            <a:ext cx="3154680" cy="27432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Classical ML</a:t>
            </a:r>
            <a:endParaRPr lang="en-US" sz="1100" dirty="0"/>
          </a:p>
        </p:txBody>
      </p:sp>
      <p:sp>
        <p:nvSpPr>
          <p:cNvPr id="17" name="Shape 15"/>
          <p:cNvSpPr/>
          <p:nvPr/>
        </p:nvSpPr>
        <p:spPr>
          <a:xfrm>
            <a:off x="4572000" y="3429000"/>
            <a:ext cx="3063240" cy="0"/>
          </a:xfrm>
          <a:prstGeom prst="line">
            <a:avLst/>
          </a:prstGeom>
          <a:noFill/>
          <a:ln w="6350">
            <a:solidFill>
              <a:srgbClr val="C9C3B8"/>
            </a:solidFill>
            <a:prstDash val="solid"/>
          </a:ln>
        </p:spPr>
        <p:txBody>
          <a:bodyPr/>
          <a:lstStyle/>
          <a:p>
            <a:endParaRPr lang="en-US"/>
          </a:p>
        </p:txBody>
      </p:sp>
      <p:sp>
        <p:nvSpPr>
          <p:cNvPr id="18" name="Text 16"/>
          <p:cNvSpPr/>
          <p:nvPr/>
        </p:nvSpPr>
        <p:spPr>
          <a:xfrm>
            <a:off x="4572000" y="3566160"/>
            <a:ext cx="310896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Same TF-IDF features</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Probabilistic output</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Interpretable coefficients</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Strong baseline despite simplicity</a:t>
            </a:r>
            <a:endParaRPr lang="en-US" sz="1200" dirty="0"/>
          </a:p>
        </p:txBody>
      </p:sp>
      <p:sp>
        <p:nvSpPr>
          <p:cNvPr id="19" name="Shape 17"/>
          <p:cNvSpPr/>
          <p:nvPr/>
        </p:nvSpPr>
        <p:spPr>
          <a:xfrm>
            <a:off x="8046720" y="2103120"/>
            <a:ext cx="3611880" cy="4023360"/>
          </a:xfrm>
          <a:prstGeom prst="rect">
            <a:avLst/>
          </a:prstGeom>
          <a:solidFill>
            <a:srgbClr val="FFFFFF"/>
          </a:solidFill>
          <a:ln w="9525">
            <a:solidFill>
              <a:srgbClr val="C9C3B8"/>
            </a:solidFill>
            <a:prstDash val="solid"/>
          </a:ln>
        </p:spPr>
        <p:txBody>
          <a:bodyPr/>
          <a:lstStyle/>
          <a:p>
            <a:endParaRPr lang="en-US"/>
          </a:p>
        </p:txBody>
      </p:sp>
      <p:sp>
        <p:nvSpPr>
          <p:cNvPr id="20" name="Shape 18"/>
          <p:cNvSpPr/>
          <p:nvPr/>
        </p:nvSpPr>
        <p:spPr>
          <a:xfrm>
            <a:off x="8046720" y="2103120"/>
            <a:ext cx="91440" cy="4023360"/>
          </a:xfrm>
          <a:prstGeom prst="rect">
            <a:avLst/>
          </a:prstGeom>
          <a:solidFill>
            <a:srgbClr val="E87461"/>
          </a:solidFill>
          <a:ln/>
        </p:spPr>
        <p:txBody>
          <a:bodyPr/>
          <a:lstStyle/>
          <a:p>
            <a:endParaRPr lang="en-US"/>
          </a:p>
        </p:txBody>
      </p:sp>
      <p:sp>
        <p:nvSpPr>
          <p:cNvPr id="21" name="Text 19"/>
          <p:cNvSpPr/>
          <p:nvPr/>
        </p:nvSpPr>
        <p:spPr>
          <a:xfrm>
            <a:off x="8321040" y="2286000"/>
            <a:ext cx="315468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TRANSFORMER</a:t>
            </a:r>
            <a:endParaRPr lang="en-US" sz="1000" dirty="0"/>
          </a:p>
        </p:txBody>
      </p:sp>
      <p:sp>
        <p:nvSpPr>
          <p:cNvPr id="22" name="Text 20"/>
          <p:cNvSpPr/>
          <p:nvPr/>
        </p:nvSpPr>
        <p:spPr>
          <a:xfrm>
            <a:off x="8321040" y="2560320"/>
            <a:ext cx="315468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DistilBERT &amp; BERT</a:t>
            </a:r>
            <a:endParaRPr lang="en-US" sz="2200" dirty="0"/>
          </a:p>
        </p:txBody>
      </p:sp>
      <p:sp>
        <p:nvSpPr>
          <p:cNvPr id="23" name="Text 21"/>
          <p:cNvSpPr/>
          <p:nvPr/>
        </p:nvSpPr>
        <p:spPr>
          <a:xfrm>
            <a:off x="8321040" y="3063240"/>
            <a:ext cx="3154680" cy="27432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Both fine-tuned</a:t>
            </a:r>
            <a:endParaRPr lang="en-US" sz="1100" dirty="0"/>
          </a:p>
        </p:txBody>
      </p:sp>
      <p:sp>
        <p:nvSpPr>
          <p:cNvPr id="24" name="Shape 22"/>
          <p:cNvSpPr/>
          <p:nvPr/>
        </p:nvSpPr>
        <p:spPr>
          <a:xfrm>
            <a:off x="8321040" y="3429000"/>
            <a:ext cx="3063240" cy="0"/>
          </a:xfrm>
          <a:prstGeom prst="line">
            <a:avLst/>
          </a:prstGeom>
          <a:noFill/>
          <a:ln w="6350">
            <a:solidFill>
              <a:srgbClr val="C9C3B8"/>
            </a:solidFill>
            <a:prstDash val="solid"/>
          </a:ln>
        </p:spPr>
        <p:txBody>
          <a:bodyPr/>
          <a:lstStyle/>
          <a:p>
            <a:endParaRPr lang="en-US"/>
          </a:p>
        </p:txBody>
      </p:sp>
      <p:sp>
        <p:nvSpPr>
          <p:cNvPr id="25" name="Text 23"/>
          <p:cNvSpPr/>
          <p:nvPr/>
        </p:nvSpPr>
        <p:spPr>
          <a:xfrm>
            <a:off x="8321040" y="3566160"/>
            <a:ext cx="3108960" cy="2377440"/>
          </a:xfrm>
          <a:prstGeom prst="rect">
            <a:avLst/>
          </a:prstGeom>
          <a:noFill/>
          <a:ln/>
        </p:spPr>
        <p:txBody>
          <a:bodyPr wrap="square" rtlCol="0" anchor="ctr"/>
          <a:lstStyle/>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Pretrained on BookCorpus + Wikipedia</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DistilBERT 66M · BERT 110M params</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Contextual subword embeddings</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DistilBERT: 40% smaller, 2× faster</a:t>
            </a:r>
            <a:endParaRPr lang="en-US" sz="1200" dirty="0"/>
          </a:p>
        </p:txBody>
      </p:sp>
      <p:sp>
        <p:nvSpPr>
          <p:cNvPr id="26" name="Text 24"/>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27" name="Text 25"/>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06 · METHODS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Tools &amp; training setup</a:t>
            </a:r>
            <a:endParaRPr lang="en-US" sz="3600" dirty="0"/>
          </a:p>
        </p:txBody>
      </p:sp>
      <p:sp>
        <p:nvSpPr>
          <p:cNvPr id="4" name="Shape 2"/>
          <p:cNvSpPr/>
          <p:nvPr/>
        </p:nvSpPr>
        <p:spPr>
          <a:xfrm>
            <a:off x="548640" y="1691640"/>
            <a:ext cx="1371600" cy="0"/>
          </a:xfrm>
          <a:prstGeom prst="line">
            <a:avLst/>
          </a:prstGeom>
          <a:noFill/>
          <a:ln w="9525">
            <a:solidFill>
              <a:srgbClr val="E87461"/>
            </a:solidFill>
            <a:prstDash val="solid"/>
          </a:ln>
        </p:spPr>
        <p:txBody>
          <a:bodyPr/>
          <a:lstStyle/>
          <a:p>
            <a:endParaRPr lang="en-US"/>
          </a:p>
        </p:txBody>
      </p:sp>
      <p:sp>
        <p:nvSpPr>
          <p:cNvPr id="5" name="Text 3"/>
          <p:cNvSpPr/>
          <p:nvPr/>
        </p:nvSpPr>
        <p:spPr>
          <a:xfrm>
            <a:off x="548640" y="2103120"/>
            <a:ext cx="4572000" cy="274320"/>
          </a:xfrm>
          <a:prstGeom prst="rect">
            <a:avLst/>
          </a:prstGeom>
          <a:noFill/>
          <a:ln/>
        </p:spPr>
        <p:txBody>
          <a:bodyPr wrap="square" rtlCol="0" anchor="ctr"/>
          <a:lstStyle/>
          <a:p>
            <a:pPr marL="0" indent="0">
              <a:buNone/>
            </a:pPr>
            <a:r>
              <a:rPr lang="en-US" sz="1100" b="1" kern="0" spc="300" dirty="0">
                <a:solidFill>
                  <a:srgbClr val="E87461"/>
                </a:solidFill>
                <a:latin typeface="Calibri" pitchFamily="34" charset="0"/>
                <a:ea typeface="Calibri" pitchFamily="34" charset="-122"/>
                <a:cs typeface="Calibri" pitchFamily="34" charset="-120"/>
              </a:rPr>
              <a:t>STACK</a:t>
            </a:r>
            <a:endParaRPr lang="en-US" sz="1100" dirty="0"/>
          </a:p>
        </p:txBody>
      </p:sp>
      <p:sp>
        <p:nvSpPr>
          <p:cNvPr id="6" name="Text 4"/>
          <p:cNvSpPr/>
          <p:nvPr/>
        </p:nvSpPr>
        <p:spPr>
          <a:xfrm>
            <a:off x="548640" y="2468880"/>
            <a:ext cx="1463040" cy="320040"/>
          </a:xfrm>
          <a:prstGeom prst="rect">
            <a:avLst/>
          </a:prstGeom>
          <a:noFill/>
          <a:ln/>
        </p:spPr>
        <p:txBody>
          <a:bodyPr wrap="square"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Platform</a:t>
            </a:r>
            <a:endParaRPr lang="en-US" sz="1100" dirty="0"/>
          </a:p>
        </p:txBody>
      </p:sp>
      <p:sp>
        <p:nvSpPr>
          <p:cNvPr id="7" name="Text 5"/>
          <p:cNvSpPr/>
          <p:nvPr/>
        </p:nvSpPr>
        <p:spPr>
          <a:xfrm>
            <a:off x="2103120" y="2468880"/>
            <a:ext cx="3931920" cy="32004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Google Colab · T4 GPU</a:t>
            </a:r>
            <a:endParaRPr lang="en-US" sz="1400" dirty="0"/>
          </a:p>
        </p:txBody>
      </p:sp>
      <p:sp>
        <p:nvSpPr>
          <p:cNvPr id="8" name="Shape 6"/>
          <p:cNvSpPr/>
          <p:nvPr/>
        </p:nvSpPr>
        <p:spPr>
          <a:xfrm>
            <a:off x="548640" y="2880360"/>
            <a:ext cx="5486400" cy="0"/>
          </a:xfrm>
          <a:prstGeom prst="line">
            <a:avLst/>
          </a:prstGeom>
          <a:noFill/>
          <a:ln w="9525">
            <a:solidFill>
              <a:srgbClr val="C9C3B8"/>
            </a:solidFill>
            <a:prstDash val="solid"/>
          </a:ln>
        </p:spPr>
        <p:txBody>
          <a:bodyPr/>
          <a:lstStyle/>
          <a:p>
            <a:endParaRPr lang="en-US"/>
          </a:p>
        </p:txBody>
      </p:sp>
      <p:sp>
        <p:nvSpPr>
          <p:cNvPr id="9" name="Text 7"/>
          <p:cNvSpPr/>
          <p:nvPr/>
        </p:nvSpPr>
        <p:spPr>
          <a:xfrm>
            <a:off x="548640" y="3017520"/>
            <a:ext cx="1463040" cy="320040"/>
          </a:xfrm>
          <a:prstGeom prst="rect">
            <a:avLst/>
          </a:prstGeom>
          <a:noFill/>
          <a:ln/>
        </p:spPr>
        <p:txBody>
          <a:bodyPr wrap="square"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Language</a:t>
            </a:r>
            <a:endParaRPr lang="en-US" sz="1100" dirty="0"/>
          </a:p>
        </p:txBody>
      </p:sp>
      <p:sp>
        <p:nvSpPr>
          <p:cNvPr id="10" name="Text 8"/>
          <p:cNvSpPr/>
          <p:nvPr/>
        </p:nvSpPr>
        <p:spPr>
          <a:xfrm>
            <a:off x="2103120" y="3017520"/>
            <a:ext cx="3931920" cy="32004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Python 3.12</a:t>
            </a:r>
            <a:endParaRPr lang="en-US" sz="1400" dirty="0"/>
          </a:p>
        </p:txBody>
      </p:sp>
      <p:sp>
        <p:nvSpPr>
          <p:cNvPr id="11" name="Shape 9"/>
          <p:cNvSpPr/>
          <p:nvPr/>
        </p:nvSpPr>
        <p:spPr>
          <a:xfrm>
            <a:off x="548640" y="3429000"/>
            <a:ext cx="5486400" cy="0"/>
          </a:xfrm>
          <a:prstGeom prst="line">
            <a:avLst/>
          </a:prstGeom>
          <a:noFill/>
          <a:ln w="9525">
            <a:solidFill>
              <a:srgbClr val="C9C3B8"/>
            </a:solidFill>
            <a:prstDash val="solid"/>
          </a:ln>
        </p:spPr>
        <p:txBody>
          <a:bodyPr/>
          <a:lstStyle/>
          <a:p>
            <a:endParaRPr lang="en-US"/>
          </a:p>
        </p:txBody>
      </p:sp>
      <p:sp>
        <p:nvSpPr>
          <p:cNvPr id="12" name="Text 10"/>
          <p:cNvSpPr/>
          <p:nvPr/>
        </p:nvSpPr>
        <p:spPr>
          <a:xfrm>
            <a:off x="548640" y="3566160"/>
            <a:ext cx="1463040" cy="320040"/>
          </a:xfrm>
          <a:prstGeom prst="rect">
            <a:avLst/>
          </a:prstGeom>
          <a:noFill/>
          <a:ln/>
        </p:spPr>
        <p:txBody>
          <a:bodyPr wrap="square"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Frameworks</a:t>
            </a:r>
            <a:endParaRPr lang="en-US" sz="1100" dirty="0"/>
          </a:p>
        </p:txBody>
      </p:sp>
      <p:sp>
        <p:nvSpPr>
          <p:cNvPr id="13" name="Text 11"/>
          <p:cNvSpPr/>
          <p:nvPr/>
        </p:nvSpPr>
        <p:spPr>
          <a:xfrm>
            <a:off x="2103120" y="3566160"/>
            <a:ext cx="3931920" cy="32004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PyTorch · Hugging Face Transformers</a:t>
            </a:r>
            <a:endParaRPr lang="en-US" sz="1400" dirty="0"/>
          </a:p>
        </p:txBody>
      </p:sp>
      <p:sp>
        <p:nvSpPr>
          <p:cNvPr id="14" name="Shape 12"/>
          <p:cNvSpPr/>
          <p:nvPr/>
        </p:nvSpPr>
        <p:spPr>
          <a:xfrm>
            <a:off x="548640" y="3977640"/>
            <a:ext cx="5486400" cy="0"/>
          </a:xfrm>
          <a:prstGeom prst="line">
            <a:avLst/>
          </a:prstGeom>
          <a:noFill/>
          <a:ln w="9525">
            <a:solidFill>
              <a:srgbClr val="C9C3B8"/>
            </a:solidFill>
            <a:prstDash val="solid"/>
          </a:ln>
        </p:spPr>
        <p:txBody>
          <a:bodyPr/>
          <a:lstStyle/>
          <a:p>
            <a:endParaRPr lang="en-US"/>
          </a:p>
        </p:txBody>
      </p:sp>
      <p:sp>
        <p:nvSpPr>
          <p:cNvPr id="15" name="Text 13"/>
          <p:cNvSpPr/>
          <p:nvPr/>
        </p:nvSpPr>
        <p:spPr>
          <a:xfrm>
            <a:off x="548640" y="4114800"/>
            <a:ext cx="1463040" cy="320040"/>
          </a:xfrm>
          <a:prstGeom prst="rect">
            <a:avLst/>
          </a:prstGeom>
          <a:noFill/>
          <a:ln/>
        </p:spPr>
        <p:txBody>
          <a:bodyPr wrap="square"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Classical</a:t>
            </a:r>
            <a:endParaRPr lang="en-US" sz="1100" dirty="0"/>
          </a:p>
        </p:txBody>
      </p:sp>
      <p:sp>
        <p:nvSpPr>
          <p:cNvPr id="16" name="Text 14"/>
          <p:cNvSpPr/>
          <p:nvPr/>
        </p:nvSpPr>
        <p:spPr>
          <a:xfrm>
            <a:off x="2103120" y="4114800"/>
            <a:ext cx="3931920" cy="32004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scikit-learn · pandas · numpy</a:t>
            </a:r>
            <a:endParaRPr lang="en-US" sz="1400" dirty="0"/>
          </a:p>
        </p:txBody>
      </p:sp>
      <p:sp>
        <p:nvSpPr>
          <p:cNvPr id="17" name="Shape 15"/>
          <p:cNvSpPr/>
          <p:nvPr/>
        </p:nvSpPr>
        <p:spPr>
          <a:xfrm>
            <a:off x="548640" y="4526280"/>
            <a:ext cx="5486400" cy="0"/>
          </a:xfrm>
          <a:prstGeom prst="line">
            <a:avLst/>
          </a:prstGeom>
          <a:noFill/>
          <a:ln w="9525">
            <a:solidFill>
              <a:srgbClr val="C9C3B8"/>
            </a:solidFill>
            <a:prstDash val="solid"/>
          </a:ln>
        </p:spPr>
        <p:txBody>
          <a:bodyPr/>
          <a:lstStyle/>
          <a:p>
            <a:endParaRPr lang="en-US"/>
          </a:p>
        </p:txBody>
      </p:sp>
      <p:sp>
        <p:nvSpPr>
          <p:cNvPr id="18" name="Text 16"/>
          <p:cNvSpPr/>
          <p:nvPr/>
        </p:nvSpPr>
        <p:spPr>
          <a:xfrm>
            <a:off x="548640" y="4663440"/>
            <a:ext cx="1463040" cy="320040"/>
          </a:xfrm>
          <a:prstGeom prst="rect">
            <a:avLst/>
          </a:prstGeom>
          <a:noFill/>
          <a:ln/>
        </p:spPr>
        <p:txBody>
          <a:bodyPr wrap="square" rtlCol="0" anchor="ctr"/>
          <a:lstStyle/>
          <a:p>
            <a:pPr marL="0" indent="0">
              <a:buNone/>
            </a:pPr>
            <a:r>
              <a:rPr lang="en-US" sz="1100" b="1" kern="0" spc="200" dirty="0">
                <a:solidFill>
                  <a:srgbClr val="6B7280"/>
                </a:solidFill>
                <a:latin typeface="Calibri" pitchFamily="34" charset="0"/>
                <a:ea typeface="Calibri" pitchFamily="34" charset="-122"/>
                <a:cs typeface="Calibri" pitchFamily="34" charset="-120"/>
              </a:rPr>
              <a:t>Viz</a:t>
            </a:r>
            <a:endParaRPr lang="en-US" sz="1100" dirty="0"/>
          </a:p>
        </p:txBody>
      </p:sp>
      <p:sp>
        <p:nvSpPr>
          <p:cNvPr id="19" name="Text 17"/>
          <p:cNvSpPr/>
          <p:nvPr/>
        </p:nvSpPr>
        <p:spPr>
          <a:xfrm>
            <a:off x="2103120" y="4663440"/>
            <a:ext cx="3931920" cy="32004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matplotlib · seaborn</a:t>
            </a:r>
            <a:endParaRPr lang="en-US" sz="1400" dirty="0"/>
          </a:p>
        </p:txBody>
      </p:sp>
      <p:sp>
        <p:nvSpPr>
          <p:cNvPr id="20" name="Shape 18"/>
          <p:cNvSpPr/>
          <p:nvPr/>
        </p:nvSpPr>
        <p:spPr>
          <a:xfrm>
            <a:off x="548640" y="5074920"/>
            <a:ext cx="5486400" cy="0"/>
          </a:xfrm>
          <a:prstGeom prst="line">
            <a:avLst/>
          </a:prstGeom>
          <a:noFill/>
          <a:ln w="9525">
            <a:solidFill>
              <a:srgbClr val="C9C3B8"/>
            </a:solidFill>
            <a:prstDash val="solid"/>
          </a:ln>
        </p:spPr>
        <p:txBody>
          <a:bodyPr/>
          <a:lstStyle/>
          <a:p>
            <a:endParaRPr lang="en-US"/>
          </a:p>
        </p:txBody>
      </p:sp>
      <p:sp>
        <p:nvSpPr>
          <p:cNvPr id="21" name="Shape 19"/>
          <p:cNvSpPr/>
          <p:nvPr/>
        </p:nvSpPr>
        <p:spPr>
          <a:xfrm>
            <a:off x="6583680" y="2103120"/>
            <a:ext cx="5029200" cy="3840480"/>
          </a:xfrm>
          <a:prstGeom prst="rect">
            <a:avLst/>
          </a:prstGeom>
          <a:solidFill>
            <a:srgbClr val="101321"/>
          </a:solidFill>
          <a:ln/>
        </p:spPr>
        <p:txBody>
          <a:bodyPr/>
          <a:lstStyle/>
          <a:p>
            <a:endParaRPr lang="en-US"/>
          </a:p>
        </p:txBody>
      </p:sp>
      <p:sp>
        <p:nvSpPr>
          <p:cNvPr id="22" name="Text 20"/>
          <p:cNvSpPr/>
          <p:nvPr/>
        </p:nvSpPr>
        <p:spPr>
          <a:xfrm>
            <a:off x="6812280" y="2286000"/>
            <a:ext cx="4572000" cy="320040"/>
          </a:xfrm>
          <a:prstGeom prst="rect">
            <a:avLst/>
          </a:prstGeom>
          <a:noFill/>
          <a:ln/>
        </p:spPr>
        <p:txBody>
          <a:bodyPr wrap="square" rtlCol="0" anchor="ctr"/>
          <a:lstStyle/>
          <a:p>
            <a:pPr marL="0" indent="0">
              <a:buNone/>
            </a:pPr>
            <a:r>
              <a:rPr lang="en-US" sz="1100" b="1" kern="0" spc="300" dirty="0">
                <a:solidFill>
                  <a:srgbClr val="E87461"/>
                </a:solidFill>
                <a:latin typeface="Calibri" pitchFamily="34" charset="0"/>
                <a:ea typeface="Calibri" pitchFamily="34" charset="-122"/>
                <a:cs typeface="Calibri" pitchFamily="34" charset="-120"/>
              </a:rPr>
              <a:t>FINE-TUNING HYPERPARAMETERS</a:t>
            </a:r>
            <a:endParaRPr lang="en-US" sz="1100" dirty="0"/>
          </a:p>
        </p:txBody>
      </p:sp>
      <p:sp>
        <p:nvSpPr>
          <p:cNvPr id="23" name="Text 21"/>
          <p:cNvSpPr/>
          <p:nvPr/>
        </p:nvSpPr>
        <p:spPr>
          <a:xfrm>
            <a:off x="6812280" y="2606040"/>
            <a:ext cx="4572000" cy="365760"/>
          </a:xfrm>
          <a:prstGeom prst="rect">
            <a:avLst/>
          </a:prstGeom>
          <a:noFill/>
          <a:ln/>
        </p:spPr>
        <p:txBody>
          <a:bodyPr wrap="square" rtlCol="0" anchor="ctr"/>
          <a:lstStyle/>
          <a:p>
            <a:pPr marL="0" indent="0">
              <a:buNone/>
            </a:pPr>
            <a:r>
              <a:rPr lang="en-US" sz="2000" b="1" dirty="0">
                <a:solidFill>
                  <a:srgbClr val="EDE9E0"/>
                </a:solidFill>
                <a:latin typeface="Georgia" pitchFamily="34" charset="0"/>
                <a:ea typeface="Georgia" pitchFamily="34" charset="-122"/>
                <a:cs typeface="Georgia" pitchFamily="34" charset="-120"/>
              </a:rPr>
              <a:t>DistilBERT fine-tuning</a:t>
            </a:r>
            <a:endParaRPr lang="en-US" sz="2000" dirty="0"/>
          </a:p>
        </p:txBody>
      </p:sp>
      <p:sp>
        <p:nvSpPr>
          <p:cNvPr id="24" name="Text 22"/>
          <p:cNvSpPr/>
          <p:nvPr/>
        </p:nvSpPr>
        <p:spPr>
          <a:xfrm>
            <a:off x="6812280" y="3108960"/>
            <a:ext cx="2560320" cy="320040"/>
          </a:xfrm>
          <a:prstGeom prst="rect">
            <a:avLst/>
          </a:prstGeom>
          <a:noFill/>
          <a:ln/>
        </p:spPr>
        <p:txBody>
          <a:bodyPr wrap="square" rtlCol="0" anchor="ctr"/>
          <a:lstStyle/>
          <a:p>
            <a:pPr marL="0" indent="0">
              <a:buNone/>
            </a:pPr>
            <a:r>
              <a:rPr lang="en-US" sz="1200" dirty="0">
                <a:solidFill>
                  <a:srgbClr val="A9A394"/>
                </a:solidFill>
                <a:latin typeface="Calibri" pitchFamily="34" charset="0"/>
                <a:ea typeface="Calibri" pitchFamily="34" charset="-122"/>
                <a:cs typeface="Calibri" pitchFamily="34" charset="-120"/>
              </a:rPr>
              <a:t>Learning rate</a:t>
            </a:r>
            <a:endParaRPr lang="en-US" sz="1200" dirty="0"/>
          </a:p>
        </p:txBody>
      </p:sp>
      <p:sp>
        <p:nvSpPr>
          <p:cNvPr id="25" name="Text 23"/>
          <p:cNvSpPr/>
          <p:nvPr/>
        </p:nvSpPr>
        <p:spPr>
          <a:xfrm>
            <a:off x="9372600" y="3108960"/>
            <a:ext cx="2103120" cy="32004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2e-5</a:t>
            </a:r>
            <a:endParaRPr lang="en-US" sz="1300" dirty="0"/>
          </a:p>
        </p:txBody>
      </p:sp>
      <p:sp>
        <p:nvSpPr>
          <p:cNvPr id="26" name="Text 24"/>
          <p:cNvSpPr/>
          <p:nvPr/>
        </p:nvSpPr>
        <p:spPr>
          <a:xfrm>
            <a:off x="6812280" y="3474720"/>
            <a:ext cx="2560320" cy="320040"/>
          </a:xfrm>
          <a:prstGeom prst="rect">
            <a:avLst/>
          </a:prstGeom>
          <a:noFill/>
          <a:ln/>
        </p:spPr>
        <p:txBody>
          <a:bodyPr wrap="square" rtlCol="0" anchor="ctr"/>
          <a:lstStyle/>
          <a:p>
            <a:pPr marL="0" indent="0">
              <a:buNone/>
            </a:pPr>
            <a:r>
              <a:rPr lang="en-US" sz="1200" dirty="0">
                <a:solidFill>
                  <a:srgbClr val="A9A394"/>
                </a:solidFill>
                <a:latin typeface="Calibri" pitchFamily="34" charset="0"/>
                <a:ea typeface="Calibri" pitchFamily="34" charset="-122"/>
                <a:cs typeface="Calibri" pitchFamily="34" charset="-120"/>
              </a:rPr>
              <a:t>Batch size</a:t>
            </a:r>
            <a:endParaRPr lang="en-US" sz="1200" dirty="0"/>
          </a:p>
        </p:txBody>
      </p:sp>
      <p:sp>
        <p:nvSpPr>
          <p:cNvPr id="27" name="Text 25"/>
          <p:cNvSpPr/>
          <p:nvPr/>
        </p:nvSpPr>
        <p:spPr>
          <a:xfrm>
            <a:off x="9372600" y="3474720"/>
            <a:ext cx="2103120" cy="32004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64</a:t>
            </a:r>
            <a:endParaRPr lang="en-US" sz="1300" dirty="0"/>
          </a:p>
        </p:txBody>
      </p:sp>
      <p:sp>
        <p:nvSpPr>
          <p:cNvPr id="28" name="Text 26"/>
          <p:cNvSpPr/>
          <p:nvPr/>
        </p:nvSpPr>
        <p:spPr>
          <a:xfrm>
            <a:off x="6812280" y="3840480"/>
            <a:ext cx="2560320" cy="320040"/>
          </a:xfrm>
          <a:prstGeom prst="rect">
            <a:avLst/>
          </a:prstGeom>
          <a:noFill/>
          <a:ln/>
        </p:spPr>
        <p:txBody>
          <a:bodyPr wrap="square" rtlCol="0" anchor="ctr"/>
          <a:lstStyle/>
          <a:p>
            <a:pPr marL="0" indent="0">
              <a:buNone/>
            </a:pPr>
            <a:r>
              <a:rPr lang="en-US" sz="1200" dirty="0">
                <a:solidFill>
                  <a:srgbClr val="A9A394"/>
                </a:solidFill>
                <a:latin typeface="Calibri" pitchFamily="34" charset="0"/>
                <a:ea typeface="Calibri" pitchFamily="34" charset="-122"/>
                <a:cs typeface="Calibri" pitchFamily="34" charset="-120"/>
              </a:rPr>
              <a:t>Epochs</a:t>
            </a:r>
            <a:endParaRPr lang="en-US" sz="1200" dirty="0"/>
          </a:p>
        </p:txBody>
      </p:sp>
      <p:sp>
        <p:nvSpPr>
          <p:cNvPr id="29" name="Text 27"/>
          <p:cNvSpPr/>
          <p:nvPr/>
        </p:nvSpPr>
        <p:spPr>
          <a:xfrm>
            <a:off x="9372600" y="3840480"/>
            <a:ext cx="2103120" cy="32004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3</a:t>
            </a:r>
            <a:endParaRPr lang="en-US" sz="1300" dirty="0"/>
          </a:p>
        </p:txBody>
      </p:sp>
      <p:sp>
        <p:nvSpPr>
          <p:cNvPr id="30" name="Text 28"/>
          <p:cNvSpPr/>
          <p:nvPr/>
        </p:nvSpPr>
        <p:spPr>
          <a:xfrm>
            <a:off x="6812280" y="4206240"/>
            <a:ext cx="2560320" cy="320040"/>
          </a:xfrm>
          <a:prstGeom prst="rect">
            <a:avLst/>
          </a:prstGeom>
          <a:noFill/>
          <a:ln/>
        </p:spPr>
        <p:txBody>
          <a:bodyPr wrap="square" rtlCol="0" anchor="ctr"/>
          <a:lstStyle/>
          <a:p>
            <a:pPr marL="0" indent="0">
              <a:buNone/>
            </a:pPr>
            <a:r>
              <a:rPr lang="en-US" sz="1200" dirty="0">
                <a:solidFill>
                  <a:srgbClr val="A9A394"/>
                </a:solidFill>
                <a:latin typeface="Calibri" pitchFamily="34" charset="0"/>
                <a:ea typeface="Calibri" pitchFamily="34" charset="-122"/>
                <a:cs typeface="Calibri" pitchFamily="34" charset="-120"/>
              </a:rPr>
              <a:t>Max seq length</a:t>
            </a:r>
            <a:endParaRPr lang="en-US" sz="1200" dirty="0"/>
          </a:p>
        </p:txBody>
      </p:sp>
      <p:sp>
        <p:nvSpPr>
          <p:cNvPr id="31" name="Text 29"/>
          <p:cNvSpPr/>
          <p:nvPr/>
        </p:nvSpPr>
        <p:spPr>
          <a:xfrm>
            <a:off x="9372600" y="4206240"/>
            <a:ext cx="2103120" cy="32004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64</a:t>
            </a:r>
            <a:endParaRPr lang="en-US" sz="1300" dirty="0"/>
          </a:p>
        </p:txBody>
      </p:sp>
      <p:sp>
        <p:nvSpPr>
          <p:cNvPr id="32" name="Text 30"/>
          <p:cNvSpPr/>
          <p:nvPr/>
        </p:nvSpPr>
        <p:spPr>
          <a:xfrm>
            <a:off x="6812280" y="4572000"/>
            <a:ext cx="2560320" cy="320040"/>
          </a:xfrm>
          <a:prstGeom prst="rect">
            <a:avLst/>
          </a:prstGeom>
          <a:noFill/>
          <a:ln/>
        </p:spPr>
        <p:txBody>
          <a:bodyPr wrap="square" rtlCol="0" anchor="ctr"/>
          <a:lstStyle/>
          <a:p>
            <a:pPr marL="0" indent="0">
              <a:buNone/>
            </a:pPr>
            <a:r>
              <a:rPr lang="en-US" sz="1200" dirty="0">
                <a:solidFill>
                  <a:srgbClr val="A9A394"/>
                </a:solidFill>
                <a:latin typeface="Calibri" pitchFamily="34" charset="0"/>
                <a:ea typeface="Calibri" pitchFamily="34" charset="-122"/>
                <a:cs typeface="Calibri" pitchFamily="34" charset="-120"/>
              </a:rPr>
              <a:t>Optimizer</a:t>
            </a:r>
            <a:endParaRPr lang="en-US" sz="1200" dirty="0"/>
          </a:p>
        </p:txBody>
      </p:sp>
      <p:sp>
        <p:nvSpPr>
          <p:cNvPr id="33" name="Text 31"/>
          <p:cNvSpPr/>
          <p:nvPr/>
        </p:nvSpPr>
        <p:spPr>
          <a:xfrm>
            <a:off x="9372600" y="4572000"/>
            <a:ext cx="2103120" cy="32004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AdamW (wd 0.01)</a:t>
            </a:r>
            <a:endParaRPr lang="en-US" sz="1300" dirty="0"/>
          </a:p>
        </p:txBody>
      </p:sp>
      <p:sp>
        <p:nvSpPr>
          <p:cNvPr id="34" name="Text 32"/>
          <p:cNvSpPr/>
          <p:nvPr/>
        </p:nvSpPr>
        <p:spPr>
          <a:xfrm>
            <a:off x="6812280" y="4937760"/>
            <a:ext cx="2560320" cy="320040"/>
          </a:xfrm>
          <a:prstGeom prst="rect">
            <a:avLst/>
          </a:prstGeom>
          <a:noFill/>
          <a:ln/>
        </p:spPr>
        <p:txBody>
          <a:bodyPr wrap="square" rtlCol="0" anchor="ctr"/>
          <a:lstStyle/>
          <a:p>
            <a:pPr marL="0" indent="0">
              <a:buNone/>
            </a:pPr>
            <a:r>
              <a:rPr lang="en-US" sz="1200" dirty="0">
                <a:solidFill>
                  <a:srgbClr val="A9A394"/>
                </a:solidFill>
                <a:latin typeface="Calibri" pitchFamily="34" charset="0"/>
                <a:ea typeface="Calibri" pitchFamily="34" charset="-122"/>
                <a:cs typeface="Calibri" pitchFamily="34" charset="-120"/>
              </a:rPr>
              <a:t>Scheduler</a:t>
            </a:r>
            <a:endParaRPr lang="en-US" sz="1200" dirty="0"/>
          </a:p>
        </p:txBody>
      </p:sp>
      <p:sp>
        <p:nvSpPr>
          <p:cNvPr id="35" name="Text 33"/>
          <p:cNvSpPr/>
          <p:nvPr/>
        </p:nvSpPr>
        <p:spPr>
          <a:xfrm>
            <a:off x="9372600" y="4937760"/>
            <a:ext cx="2103120" cy="32004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Linear warmup</a:t>
            </a:r>
            <a:endParaRPr lang="en-US" sz="1300" dirty="0"/>
          </a:p>
        </p:txBody>
      </p:sp>
      <p:sp>
        <p:nvSpPr>
          <p:cNvPr id="36" name="Text 34"/>
          <p:cNvSpPr/>
          <p:nvPr/>
        </p:nvSpPr>
        <p:spPr>
          <a:xfrm>
            <a:off x="6812280" y="5303520"/>
            <a:ext cx="2560320" cy="320040"/>
          </a:xfrm>
          <a:prstGeom prst="rect">
            <a:avLst/>
          </a:prstGeom>
          <a:noFill/>
          <a:ln/>
        </p:spPr>
        <p:txBody>
          <a:bodyPr wrap="square" rtlCol="0" anchor="ctr"/>
          <a:lstStyle/>
          <a:p>
            <a:pPr marL="0" indent="0">
              <a:buNone/>
            </a:pPr>
            <a:r>
              <a:rPr lang="en-US" sz="1200" dirty="0">
                <a:solidFill>
                  <a:srgbClr val="A9A394"/>
                </a:solidFill>
                <a:latin typeface="Calibri" pitchFamily="34" charset="0"/>
                <a:ea typeface="Calibri" pitchFamily="34" charset="-122"/>
                <a:cs typeface="Calibri" pitchFamily="34" charset="-120"/>
              </a:rPr>
              <a:t>Train subset</a:t>
            </a:r>
            <a:endParaRPr lang="en-US" sz="1200" dirty="0"/>
          </a:p>
        </p:txBody>
      </p:sp>
      <p:sp>
        <p:nvSpPr>
          <p:cNvPr id="37" name="Text 35"/>
          <p:cNvSpPr/>
          <p:nvPr/>
        </p:nvSpPr>
        <p:spPr>
          <a:xfrm>
            <a:off x="9372600" y="5303520"/>
            <a:ext cx="2103120" cy="32004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74K (full set)</a:t>
            </a:r>
            <a:endParaRPr lang="en-US" sz="1300" dirty="0"/>
          </a:p>
        </p:txBody>
      </p:sp>
      <p:sp>
        <p:nvSpPr>
          <p:cNvPr id="38" name="Text 36"/>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39" name="Text 37"/>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07 · METHODS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rPr>
              <a:t>Measurements</a:t>
            </a:r>
            <a:endParaRPr lang="en-US" sz="3600" dirty="0"/>
          </a:p>
        </p:txBody>
      </p:sp>
      <p:sp>
        <p:nvSpPr>
          <p:cNvPr id="4" name="Shape 2"/>
          <p:cNvSpPr/>
          <p:nvPr/>
        </p:nvSpPr>
        <p:spPr>
          <a:xfrm>
            <a:off x="548640" y="1691640"/>
            <a:ext cx="1371600" cy="0"/>
          </a:xfrm>
          <a:prstGeom prst="line">
            <a:avLst/>
          </a:prstGeom>
          <a:noFill/>
          <a:ln w="9525">
            <a:solidFill>
              <a:srgbClr val="E87461"/>
            </a:solidFill>
            <a:prstDash val="solid"/>
          </a:ln>
        </p:spPr>
        <p:txBody>
          <a:bodyPr/>
          <a:lstStyle/>
          <a:p>
            <a:endParaRPr lang="en-US"/>
          </a:p>
        </p:txBody>
      </p:sp>
      <p:sp>
        <p:nvSpPr>
          <p:cNvPr id="5" name="Shape 3"/>
          <p:cNvSpPr/>
          <p:nvPr/>
        </p:nvSpPr>
        <p:spPr>
          <a:xfrm>
            <a:off x="548640" y="2103120"/>
            <a:ext cx="5440680" cy="1737360"/>
          </a:xfrm>
          <a:prstGeom prst="rect">
            <a:avLst/>
          </a:prstGeom>
          <a:solidFill>
            <a:srgbClr val="FFFFFF"/>
          </a:solidFill>
          <a:ln w="9525">
            <a:solidFill>
              <a:srgbClr val="C9C3B8"/>
            </a:solidFill>
            <a:prstDash val="solid"/>
          </a:ln>
        </p:spPr>
        <p:txBody>
          <a:bodyPr/>
          <a:lstStyle/>
          <a:p>
            <a:endParaRPr lang="en-US"/>
          </a:p>
        </p:txBody>
      </p:sp>
      <p:sp>
        <p:nvSpPr>
          <p:cNvPr id="6" name="Shape 4"/>
          <p:cNvSpPr/>
          <p:nvPr/>
        </p:nvSpPr>
        <p:spPr>
          <a:xfrm>
            <a:off x="548640" y="2103120"/>
            <a:ext cx="73152" cy="1737360"/>
          </a:xfrm>
          <a:prstGeom prst="rect">
            <a:avLst/>
          </a:prstGeom>
          <a:solidFill>
            <a:srgbClr val="E87461"/>
          </a:solidFill>
          <a:ln/>
        </p:spPr>
        <p:txBody>
          <a:bodyPr/>
          <a:lstStyle/>
          <a:p>
            <a:endParaRPr lang="en-US"/>
          </a:p>
        </p:txBody>
      </p:sp>
      <p:sp>
        <p:nvSpPr>
          <p:cNvPr id="7" name="Text 5"/>
          <p:cNvSpPr/>
          <p:nvPr/>
        </p:nvSpPr>
        <p:spPr>
          <a:xfrm>
            <a:off x="777240" y="2286000"/>
            <a:ext cx="5074920" cy="274320"/>
          </a:xfrm>
          <a:prstGeom prst="rect">
            <a:avLst/>
          </a:prstGeom>
          <a:noFill/>
          <a:ln/>
        </p:spPr>
        <p:txBody>
          <a:bodyPr wrap="square" rtlCol="0" anchor="ctr"/>
          <a:lstStyle/>
          <a:p>
            <a:pPr marL="0" indent="0">
              <a:buNone/>
            </a:pPr>
            <a:r>
              <a:rPr lang="en-US" sz="1000" b="1" kern="0" spc="300" dirty="0">
                <a:solidFill>
                  <a:srgbClr val="E87461"/>
                </a:solidFill>
                <a:latin typeface="Calibri" pitchFamily="34" charset="0"/>
                <a:ea typeface="Calibri" pitchFamily="34" charset="-122"/>
                <a:cs typeface="Calibri" pitchFamily="34" charset="-120"/>
              </a:rPr>
              <a:t>PRIMARY</a:t>
            </a:r>
            <a:endParaRPr lang="en-US" sz="1000" dirty="0"/>
          </a:p>
        </p:txBody>
      </p:sp>
      <p:sp>
        <p:nvSpPr>
          <p:cNvPr id="8" name="Text 6"/>
          <p:cNvSpPr/>
          <p:nvPr/>
        </p:nvSpPr>
        <p:spPr>
          <a:xfrm>
            <a:off x="777240" y="2560320"/>
            <a:ext cx="507492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Weighted F1</a:t>
            </a:r>
            <a:endParaRPr lang="en-US" sz="2200" dirty="0"/>
          </a:p>
        </p:txBody>
      </p:sp>
      <p:sp>
        <p:nvSpPr>
          <p:cNvPr id="9" name="Text 7"/>
          <p:cNvSpPr/>
          <p:nvPr/>
        </p:nvSpPr>
        <p:spPr>
          <a:xfrm>
            <a:off x="777240" y="3063240"/>
            <a:ext cx="5074920" cy="6858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Handles class imbalance by weighting each class's F1 by sample count.</a:t>
            </a:r>
            <a:endParaRPr lang="en-US" sz="1200" dirty="0"/>
          </a:p>
        </p:txBody>
      </p:sp>
      <p:sp>
        <p:nvSpPr>
          <p:cNvPr id="10" name="Shape 8"/>
          <p:cNvSpPr/>
          <p:nvPr/>
        </p:nvSpPr>
        <p:spPr>
          <a:xfrm>
            <a:off x="6172200" y="2103120"/>
            <a:ext cx="5440680" cy="1737360"/>
          </a:xfrm>
          <a:prstGeom prst="rect">
            <a:avLst/>
          </a:prstGeom>
          <a:solidFill>
            <a:srgbClr val="FFFFFF"/>
          </a:solidFill>
          <a:ln w="9525">
            <a:solidFill>
              <a:srgbClr val="C9C3B8"/>
            </a:solidFill>
            <a:prstDash val="solid"/>
          </a:ln>
        </p:spPr>
        <p:txBody>
          <a:bodyPr/>
          <a:lstStyle/>
          <a:p>
            <a:endParaRPr lang="en-US"/>
          </a:p>
        </p:txBody>
      </p:sp>
      <p:sp>
        <p:nvSpPr>
          <p:cNvPr id="11" name="Shape 9"/>
          <p:cNvSpPr/>
          <p:nvPr/>
        </p:nvSpPr>
        <p:spPr>
          <a:xfrm>
            <a:off x="6172200" y="2103120"/>
            <a:ext cx="73152" cy="1737360"/>
          </a:xfrm>
          <a:prstGeom prst="rect">
            <a:avLst/>
          </a:prstGeom>
          <a:solidFill>
            <a:srgbClr val="3E8989"/>
          </a:solidFill>
          <a:ln/>
        </p:spPr>
        <p:txBody>
          <a:bodyPr/>
          <a:lstStyle/>
          <a:p>
            <a:endParaRPr lang="en-US"/>
          </a:p>
        </p:txBody>
      </p:sp>
      <p:sp>
        <p:nvSpPr>
          <p:cNvPr id="12" name="Text 10"/>
          <p:cNvSpPr/>
          <p:nvPr/>
        </p:nvSpPr>
        <p:spPr>
          <a:xfrm>
            <a:off x="6400800" y="2286000"/>
            <a:ext cx="5074920" cy="274320"/>
          </a:xfrm>
          <a:prstGeom prst="rect">
            <a:avLst/>
          </a:prstGeom>
          <a:noFill/>
          <a:ln/>
        </p:spPr>
        <p:txBody>
          <a:bodyPr wrap="square" rtlCol="0" anchor="ctr"/>
          <a:lstStyle/>
          <a:p>
            <a:pPr marL="0" indent="0">
              <a:buNone/>
            </a:pPr>
            <a:r>
              <a:rPr lang="en-US" sz="1000" b="1" kern="0" spc="300" dirty="0">
                <a:solidFill>
                  <a:srgbClr val="3E8989"/>
                </a:solidFill>
                <a:latin typeface="Calibri" pitchFamily="34" charset="0"/>
                <a:ea typeface="Calibri" pitchFamily="34" charset="-122"/>
                <a:cs typeface="Calibri" pitchFamily="34" charset="-120"/>
              </a:rPr>
              <a:t>SECONDARY</a:t>
            </a:r>
            <a:endParaRPr lang="en-US" sz="1000" dirty="0"/>
          </a:p>
        </p:txBody>
      </p:sp>
      <p:sp>
        <p:nvSpPr>
          <p:cNvPr id="13" name="Text 11"/>
          <p:cNvSpPr/>
          <p:nvPr/>
        </p:nvSpPr>
        <p:spPr>
          <a:xfrm>
            <a:off x="6400800" y="2560320"/>
            <a:ext cx="507492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Macro F1</a:t>
            </a:r>
            <a:endParaRPr lang="en-US" sz="2200" dirty="0"/>
          </a:p>
        </p:txBody>
      </p:sp>
      <p:sp>
        <p:nvSpPr>
          <p:cNvPr id="14" name="Text 12"/>
          <p:cNvSpPr/>
          <p:nvPr/>
        </p:nvSpPr>
        <p:spPr>
          <a:xfrm>
            <a:off x="6400800" y="3063240"/>
            <a:ext cx="5074920" cy="6858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Treats all classes equally — reveals if minority classes are being neglected.</a:t>
            </a:r>
            <a:endParaRPr lang="en-US" sz="1200" dirty="0"/>
          </a:p>
        </p:txBody>
      </p:sp>
      <p:sp>
        <p:nvSpPr>
          <p:cNvPr id="15" name="Shape 13"/>
          <p:cNvSpPr/>
          <p:nvPr/>
        </p:nvSpPr>
        <p:spPr>
          <a:xfrm>
            <a:off x="548640" y="4023360"/>
            <a:ext cx="5440680" cy="1737360"/>
          </a:xfrm>
          <a:prstGeom prst="rect">
            <a:avLst/>
          </a:prstGeom>
          <a:solidFill>
            <a:srgbClr val="FFFFFF"/>
          </a:solidFill>
          <a:ln w="9525">
            <a:solidFill>
              <a:srgbClr val="C9C3B8"/>
            </a:solidFill>
            <a:prstDash val="solid"/>
          </a:ln>
        </p:spPr>
        <p:txBody>
          <a:bodyPr/>
          <a:lstStyle/>
          <a:p>
            <a:endParaRPr lang="en-US"/>
          </a:p>
        </p:txBody>
      </p:sp>
      <p:sp>
        <p:nvSpPr>
          <p:cNvPr id="16" name="Shape 14"/>
          <p:cNvSpPr/>
          <p:nvPr/>
        </p:nvSpPr>
        <p:spPr>
          <a:xfrm>
            <a:off x="548640" y="4023360"/>
            <a:ext cx="73152" cy="1737360"/>
          </a:xfrm>
          <a:prstGeom prst="rect">
            <a:avLst/>
          </a:prstGeom>
          <a:solidFill>
            <a:srgbClr val="D4A84B"/>
          </a:solidFill>
          <a:ln/>
        </p:spPr>
        <p:txBody>
          <a:bodyPr/>
          <a:lstStyle/>
          <a:p>
            <a:endParaRPr lang="en-US"/>
          </a:p>
        </p:txBody>
      </p:sp>
      <p:sp>
        <p:nvSpPr>
          <p:cNvPr id="17" name="Text 15"/>
          <p:cNvSpPr/>
          <p:nvPr/>
        </p:nvSpPr>
        <p:spPr>
          <a:xfrm>
            <a:off x="777240" y="4206240"/>
            <a:ext cx="5074920" cy="274320"/>
          </a:xfrm>
          <a:prstGeom prst="rect">
            <a:avLst/>
          </a:prstGeom>
          <a:noFill/>
          <a:ln/>
        </p:spPr>
        <p:txBody>
          <a:bodyPr wrap="square" rtlCol="0" anchor="ctr"/>
          <a:lstStyle/>
          <a:p>
            <a:pPr marL="0" indent="0">
              <a:buNone/>
            </a:pPr>
            <a:r>
              <a:rPr lang="en-US" sz="1000" b="1" kern="0" spc="300" dirty="0">
                <a:solidFill>
                  <a:srgbClr val="D4A84B"/>
                </a:solidFill>
                <a:latin typeface="Calibri" pitchFamily="34" charset="0"/>
                <a:ea typeface="Calibri" pitchFamily="34" charset="-122"/>
                <a:cs typeface="Calibri" pitchFamily="34" charset="-120"/>
              </a:rPr>
              <a:t>SECONDARY</a:t>
            </a:r>
            <a:endParaRPr lang="en-US" sz="1000" dirty="0"/>
          </a:p>
        </p:txBody>
      </p:sp>
      <p:sp>
        <p:nvSpPr>
          <p:cNvPr id="18" name="Text 16"/>
          <p:cNvSpPr/>
          <p:nvPr/>
        </p:nvSpPr>
        <p:spPr>
          <a:xfrm>
            <a:off x="777240" y="4480560"/>
            <a:ext cx="507492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Accuracy</a:t>
            </a:r>
            <a:endParaRPr lang="en-US" sz="2200" dirty="0"/>
          </a:p>
        </p:txBody>
      </p:sp>
      <p:sp>
        <p:nvSpPr>
          <p:cNvPr id="19" name="Text 17"/>
          <p:cNvSpPr/>
          <p:nvPr/>
        </p:nvSpPr>
        <p:spPr>
          <a:xfrm>
            <a:off x="777240" y="4983480"/>
            <a:ext cx="5074920" cy="6858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Simple overall correctness; reported alongside F1 for context.</a:t>
            </a:r>
            <a:endParaRPr lang="en-US" sz="1200" dirty="0"/>
          </a:p>
        </p:txBody>
      </p:sp>
      <p:sp>
        <p:nvSpPr>
          <p:cNvPr id="20" name="Shape 18"/>
          <p:cNvSpPr/>
          <p:nvPr/>
        </p:nvSpPr>
        <p:spPr>
          <a:xfrm>
            <a:off x="6172200" y="4023360"/>
            <a:ext cx="5440680" cy="1737360"/>
          </a:xfrm>
          <a:prstGeom prst="rect">
            <a:avLst/>
          </a:prstGeom>
          <a:solidFill>
            <a:srgbClr val="FFFFFF"/>
          </a:solidFill>
          <a:ln w="9525">
            <a:solidFill>
              <a:srgbClr val="C9C3B8"/>
            </a:solidFill>
            <a:prstDash val="solid"/>
          </a:ln>
        </p:spPr>
        <p:txBody>
          <a:bodyPr/>
          <a:lstStyle/>
          <a:p>
            <a:endParaRPr lang="en-US"/>
          </a:p>
        </p:txBody>
      </p:sp>
      <p:sp>
        <p:nvSpPr>
          <p:cNvPr id="21" name="Shape 19"/>
          <p:cNvSpPr/>
          <p:nvPr/>
        </p:nvSpPr>
        <p:spPr>
          <a:xfrm>
            <a:off x="6172200" y="4023360"/>
            <a:ext cx="73152" cy="1737360"/>
          </a:xfrm>
          <a:prstGeom prst="rect">
            <a:avLst/>
          </a:prstGeom>
          <a:solidFill>
            <a:srgbClr val="6B7280"/>
          </a:solidFill>
          <a:ln/>
        </p:spPr>
        <p:txBody>
          <a:bodyPr/>
          <a:lstStyle/>
          <a:p>
            <a:endParaRPr lang="en-US"/>
          </a:p>
        </p:txBody>
      </p:sp>
      <p:sp>
        <p:nvSpPr>
          <p:cNvPr id="22" name="Text 20"/>
          <p:cNvSpPr/>
          <p:nvPr/>
        </p:nvSpPr>
        <p:spPr>
          <a:xfrm>
            <a:off x="6400800" y="4206240"/>
            <a:ext cx="5074920" cy="274320"/>
          </a:xfrm>
          <a:prstGeom prst="rect">
            <a:avLst/>
          </a:prstGeom>
          <a:noFill/>
          <a:ln/>
        </p:spPr>
        <p:txBody>
          <a:bodyPr wrap="square" rtlCol="0" anchor="ctr"/>
          <a:lstStyle/>
          <a:p>
            <a:pPr marL="0" indent="0">
              <a:buNone/>
            </a:pPr>
            <a:r>
              <a:rPr lang="en-US" sz="1000" b="1" kern="0" spc="300" dirty="0">
                <a:solidFill>
                  <a:srgbClr val="6B7280"/>
                </a:solidFill>
                <a:latin typeface="Calibri" pitchFamily="34" charset="0"/>
                <a:ea typeface="Calibri" pitchFamily="34" charset="-122"/>
                <a:cs typeface="Calibri" pitchFamily="34" charset="-120"/>
              </a:rPr>
              <a:t>DIAGNOSTIC</a:t>
            </a:r>
            <a:endParaRPr lang="en-US" sz="1000" dirty="0"/>
          </a:p>
        </p:txBody>
      </p:sp>
      <p:sp>
        <p:nvSpPr>
          <p:cNvPr id="23" name="Text 21"/>
          <p:cNvSpPr/>
          <p:nvPr/>
        </p:nvSpPr>
        <p:spPr>
          <a:xfrm>
            <a:off x="6400800" y="4480560"/>
            <a:ext cx="507492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Confusion matrix</a:t>
            </a:r>
            <a:endParaRPr lang="en-US" sz="2200" dirty="0"/>
          </a:p>
        </p:txBody>
      </p:sp>
      <p:sp>
        <p:nvSpPr>
          <p:cNvPr id="24" name="Text 22"/>
          <p:cNvSpPr/>
          <p:nvPr/>
        </p:nvSpPr>
        <p:spPr>
          <a:xfrm>
            <a:off x="6400800" y="4983480"/>
            <a:ext cx="5074920" cy="6858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Per-class error patterns — which sentiments get confused for which.</a:t>
            </a:r>
            <a:endParaRPr lang="en-US" sz="1200" dirty="0"/>
          </a:p>
        </p:txBody>
      </p:sp>
      <p:sp>
        <p:nvSpPr>
          <p:cNvPr id="25" name="Text 23"/>
          <p:cNvSpPr/>
          <p:nvPr/>
        </p:nvSpPr>
        <p:spPr>
          <a:xfrm>
            <a:off x="548640" y="5989320"/>
            <a:ext cx="11064240" cy="36576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Controlled comparison  —  </a:t>
            </a:r>
            <a:r>
              <a:rPr lang="en-US" sz="1200" i="1" dirty="0">
                <a:solidFill>
                  <a:srgbClr val="6B7280"/>
                </a:solidFill>
                <a:latin typeface="Calibri" pitchFamily="34" charset="0"/>
                <a:ea typeface="Calibri" pitchFamily="34" charset="-122"/>
                <a:cs typeface="Calibri" pitchFamily="34" charset="-120"/>
              </a:rPr>
              <a:t>all models share the same train/val split, tokenization length, and evaluation pipeline. Only the model itself varies.</a:t>
            </a:r>
            <a:endParaRPr lang="en-US" sz="1200" dirty="0"/>
          </a:p>
        </p:txBody>
      </p:sp>
      <p:sp>
        <p:nvSpPr>
          <p:cNvPr id="26" name="Text 24"/>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27" name="Text 25"/>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321"/>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08 · RESULTS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EDE9E0"/>
                </a:solidFill>
                <a:latin typeface="Georgia" pitchFamily="34" charset="0"/>
                <a:ea typeface="Georgia" pitchFamily="34" charset="-122"/>
                <a:cs typeface="Georgia" pitchFamily="34" charset="-120"/>
              </a:rPr>
              <a:t>Performance comparison</a:t>
            </a:r>
            <a:endParaRPr lang="en-US" sz="3600" dirty="0"/>
          </a:p>
        </p:txBody>
      </p:sp>
      <p:sp>
        <p:nvSpPr>
          <p:cNvPr id="4" name="Text 2"/>
          <p:cNvSpPr/>
          <p:nvPr/>
        </p:nvSpPr>
        <p:spPr>
          <a:xfrm>
            <a:off x="548640" y="1463040"/>
            <a:ext cx="10972800" cy="320040"/>
          </a:xfrm>
          <a:prstGeom prst="rect">
            <a:avLst/>
          </a:prstGeom>
          <a:noFill/>
          <a:ln/>
        </p:spPr>
        <p:txBody>
          <a:bodyPr wrap="square" rtlCol="0" anchor="ctr"/>
          <a:lstStyle/>
          <a:p>
            <a:pPr marL="0" indent="0">
              <a:buNone/>
            </a:pPr>
            <a:r>
              <a:rPr lang="en-US" sz="1400" i="1" dirty="0">
                <a:solidFill>
                  <a:srgbClr val="9B9588"/>
                </a:solidFill>
                <a:latin typeface="Calibri" pitchFamily="34" charset="0"/>
                <a:ea typeface="Calibri" pitchFamily="34" charset="-122"/>
                <a:cs typeface="Calibri" pitchFamily="34" charset="-120"/>
              </a:rPr>
              <a:t>Validation set · weighted F1 score</a:t>
            </a:r>
            <a:endParaRPr lang="en-US" sz="1400" dirty="0"/>
          </a:p>
        </p:txBody>
      </p:sp>
      <p:sp>
        <p:nvSpPr>
          <p:cNvPr id="5" name="Shape 3"/>
          <p:cNvSpPr/>
          <p:nvPr/>
        </p:nvSpPr>
        <p:spPr>
          <a:xfrm>
            <a:off x="548640" y="1874520"/>
            <a:ext cx="1371600" cy="0"/>
          </a:xfrm>
          <a:prstGeom prst="line">
            <a:avLst/>
          </a:prstGeom>
          <a:noFill/>
          <a:ln w="9525">
            <a:solidFill>
              <a:srgbClr val="E87461"/>
            </a:solidFill>
            <a:prstDash val="solid"/>
          </a:ln>
        </p:spPr>
        <p:txBody>
          <a:bodyPr/>
          <a:lstStyle/>
          <a:p>
            <a:endParaRPr lang="en-US"/>
          </a:p>
        </p:txBody>
      </p:sp>
      <p:graphicFrame>
        <p:nvGraphicFramePr>
          <p:cNvPr id="6" name="Chart 0"/>
          <p:cNvGraphicFramePr/>
          <p:nvPr/>
        </p:nvGraphicFramePr>
        <p:xfrm>
          <a:off x="548640" y="2194560"/>
          <a:ext cx="68580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680960" y="2194560"/>
            <a:ext cx="4023360" cy="274320"/>
          </a:xfrm>
          <a:prstGeom prst="rect">
            <a:avLst/>
          </a:prstGeom>
          <a:noFill/>
          <a:ln/>
        </p:spPr>
        <p:txBody>
          <a:bodyPr wrap="square" rtlCol="0" anchor="ctr"/>
          <a:lstStyle/>
          <a:p>
            <a:pPr marL="0" indent="0">
              <a:buNone/>
            </a:pPr>
            <a:r>
              <a:rPr lang="en-US" sz="1100" b="1" kern="0" spc="400" dirty="0">
                <a:solidFill>
                  <a:srgbClr val="E87461"/>
                </a:solidFill>
                <a:latin typeface="Calibri" pitchFamily="34" charset="0"/>
                <a:ea typeface="Calibri" pitchFamily="34" charset="-122"/>
                <a:cs typeface="Calibri" pitchFamily="34" charset="-120"/>
              </a:rPr>
              <a:t>KEY TAKEAWAYS</a:t>
            </a:r>
            <a:endParaRPr lang="en-US" sz="1100" dirty="0"/>
          </a:p>
        </p:txBody>
      </p:sp>
      <p:sp>
        <p:nvSpPr>
          <p:cNvPr id="8" name="Text 5"/>
          <p:cNvSpPr/>
          <p:nvPr/>
        </p:nvSpPr>
        <p:spPr>
          <a:xfrm>
            <a:off x="7680960" y="2514600"/>
            <a:ext cx="4023360" cy="3474720"/>
          </a:xfrm>
          <a:prstGeom prst="rect">
            <a:avLst/>
          </a:prstGeom>
          <a:noFill/>
          <a:ln/>
        </p:spPr>
        <p:txBody>
          <a:bodyPr wrap="square" rtlCol="0" anchor="ctr"/>
          <a:lstStyle/>
          <a:p>
            <a:pPr marL="0" indent="0">
              <a:spcAft>
                <a:spcPts val="400"/>
              </a:spcAft>
              <a:buNone/>
            </a:pPr>
            <a:r>
              <a:rPr lang="en-US" sz="1600" b="1" dirty="0">
                <a:solidFill>
                  <a:srgbClr val="EDE9E0"/>
                </a:solidFill>
                <a:latin typeface="Calibri" pitchFamily="34" charset="0"/>
                <a:ea typeface="Calibri" pitchFamily="34" charset="-122"/>
                <a:cs typeface="Calibri" pitchFamily="34" charset="-120"/>
              </a:rPr>
              <a:t>Transformers sweep the top</a:t>
            </a:r>
            <a:endParaRPr lang="en-US" sz="1600" dirty="0"/>
          </a:p>
          <a:p>
            <a:pPr marL="0" indent="0">
              <a:spcAft>
                <a:spcPts val="400"/>
              </a:spcAft>
              <a:buNone/>
            </a:pPr>
            <a:r>
              <a:rPr lang="en-US" sz="1200" dirty="0">
                <a:solidFill>
                  <a:srgbClr val="BDB7A8"/>
                </a:solidFill>
                <a:latin typeface="Calibri" pitchFamily="34" charset="0"/>
                <a:ea typeface="Calibri" pitchFamily="34" charset="-122"/>
                <a:cs typeface="Calibri" pitchFamily="34" charset="-120"/>
              </a:rPr>
              <a:t>BERT 0.958 and DistilBERT 0.949 both beat TF-IDF + SVM (0.920). H1 is confirmed.</a:t>
            </a:r>
            <a:endParaRPr lang="en-US" sz="1600" dirty="0"/>
          </a:p>
          <a:p>
            <a:pPr marL="0" indent="0">
              <a:spcAft>
                <a:spcPts val="400"/>
              </a:spcAft>
              <a:buNone/>
            </a:pPr>
            <a:r>
              <a:rPr lang="en-US" sz="600" dirty="0">
                <a:solidFill>
                  <a:srgbClr val="000000"/>
                </a:solidFill>
                <a:latin typeface="Calibri" pitchFamily="34" charset="0"/>
                <a:ea typeface="Calibri" pitchFamily="34" charset="-122"/>
                <a:cs typeface="Calibri" pitchFamily="34" charset="-120"/>
              </a:rPr>
              <a:t> </a:t>
            </a:r>
            <a:endParaRPr lang="en-US" sz="1600" dirty="0"/>
          </a:p>
          <a:p>
            <a:pPr marL="0" indent="0">
              <a:spcAft>
                <a:spcPts val="400"/>
              </a:spcAft>
              <a:buNone/>
            </a:pPr>
            <a:r>
              <a:rPr lang="en-US" sz="1600" b="1" dirty="0">
                <a:solidFill>
                  <a:srgbClr val="EDE9E0"/>
                </a:solidFill>
                <a:latin typeface="Calibri" pitchFamily="34" charset="0"/>
                <a:ea typeface="Calibri" pitchFamily="34" charset="-122"/>
                <a:cs typeface="Calibri" pitchFamily="34" charset="-120"/>
              </a:rPr>
              <a:t>DistilBERT wins on efficiency</a:t>
            </a:r>
            <a:endParaRPr lang="en-US" sz="1600" dirty="0"/>
          </a:p>
          <a:p>
            <a:pPr marL="0" indent="0">
              <a:spcAft>
                <a:spcPts val="400"/>
              </a:spcAft>
              <a:buNone/>
            </a:pPr>
            <a:r>
              <a:rPr lang="en-US" sz="1200" dirty="0">
                <a:solidFill>
                  <a:srgbClr val="BDB7A8"/>
                </a:solidFill>
                <a:latin typeface="Calibri" pitchFamily="34" charset="0"/>
                <a:ea typeface="Calibri" pitchFamily="34" charset="-122"/>
                <a:cs typeface="Calibri" pitchFamily="34" charset="-120"/>
              </a:rPr>
              <a:t>BERT needed 43 minutes to score just 0.9 F1 points above DistilBERT's 19 minutes — H2 confirmed.</a:t>
            </a:r>
            <a:endParaRPr lang="en-US" sz="1600" dirty="0"/>
          </a:p>
          <a:p>
            <a:pPr marL="0" indent="0">
              <a:spcAft>
                <a:spcPts val="400"/>
              </a:spcAft>
              <a:buNone/>
            </a:pPr>
            <a:r>
              <a:rPr lang="en-US" sz="600" dirty="0">
                <a:solidFill>
                  <a:srgbClr val="000000"/>
                </a:solidFill>
                <a:latin typeface="Calibri" pitchFamily="34" charset="0"/>
                <a:ea typeface="Calibri" pitchFamily="34" charset="-122"/>
                <a:cs typeface="Calibri" pitchFamily="34" charset="-120"/>
              </a:rPr>
              <a:t> </a:t>
            </a:r>
            <a:endParaRPr lang="en-US" sz="1600" dirty="0"/>
          </a:p>
          <a:p>
            <a:pPr marL="0" indent="0">
              <a:spcAft>
                <a:spcPts val="400"/>
              </a:spcAft>
              <a:buNone/>
            </a:pPr>
            <a:r>
              <a:rPr lang="en-US" sz="1600" b="1" dirty="0">
                <a:solidFill>
                  <a:srgbClr val="EDE9E0"/>
                </a:solidFill>
                <a:latin typeface="Calibri" pitchFamily="34" charset="0"/>
                <a:ea typeface="Calibri" pitchFamily="34" charset="-122"/>
                <a:cs typeface="Calibri" pitchFamily="34" charset="-120"/>
              </a:rPr>
              <a:t>TF-IDF is a strong baseline</a:t>
            </a:r>
            <a:endParaRPr lang="en-US" sz="1600" dirty="0"/>
          </a:p>
          <a:p>
            <a:pPr marL="0" indent="0">
              <a:spcAft>
                <a:spcPts val="400"/>
              </a:spcAft>
              <a:buNone/>
            </a:pPr>
            <a:r>
              <a:rPr lang="en-US" sz="1200" dirty="0">
                <a:solidFill>
                  <a:srgbClr val="BDB7A8"/>
                </a:solidFill>
                <a:latin typeface="Calibri" pitchFamily="34" charset="0"/>
                <a:ea typeface="Calibri" pitchFamily="34" charset="-122"/>
                <a:cs typeface="Calibri" pitchFamily="34" charset="-120"/>
              </a:rPr>
              <a:t>Explicit sentiment words carry most of the signal — SVM stays within 4 F1 points of BERT at a fraction of the compute.</a:t>
            </a:r>
            <a:endParaRPr lang="en-US" sz="1600" dirty="0"/>
          </a:p>
        </p:txBody>
      </p:sp>
      <p:sp>
        <p:nvSpPr>
          <p:cNvPr id="9" name="Text 6"/>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8A8578"/>
                </a:solidFill>
                <a:latin typeface="Calibri" pitchFamily="34" charset="0"/>
                <a:ea typeface="Calibri" pitchFamily="34" charset="-122"/>
                <a:cs typeface="Calibri" pitchFamily="34" charset="-120"/>
              </a:rPr>
              <a:t>Sentiment Analysis · Group Project</a:t>
            </a:r>
            <a:endParaRPr lang="en-US" sz="900" dirty="0"/>
          </a:p>
        </p:txBody>
      </p:sp>
      <p:sp>
        <p:nvSpPr>
          <p:cNvPr id="10" name="Text 7"/>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8A8578"/>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09 · RESULTS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Full metric breakdown</a:t>
            </a:r>
            <a:endParaRPr lang="en-US" sz="3600" dirty="0"/>
          </a:p>
        </p:txBody>
      </p:sp>
      <p:sp>
        <p:nvSpPr>
          <p:cNvPr id="4" name="Shape 2"/>
          <p:cNvSpPr/>
          <p:nvPr/>
        </p:nvSpPr>
        <p:spPr>
          <a:xfrm>
            <a:off x="548640" y="1691640"/>
            <a:ext cx="1371600" cy="0"/>
          </a:xfrm>
          <a:prstGeom prst="line">
            <a:avLst/>
          </a:prstGeom>
          <a:noFill/>
          <a:ln w="9525">
            <a:solidFill>
              <a:srgbClr val="E87461"/>
            </a:solidFill>
            <a:prstDash val="solid"/>
          </a:ln>
        </p:spPr>
        <p:txBody>
          <a:bodyPr/>
          <a:lstStyle/>
          <a:p>
            <a:endParaRPr lang="en-US"/>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2514600"/>
        </p:xfrm>
        <a:graphic>
          <a:graphicData uri="http://schemas.openxmlformats.org/drawingml/2006/table">
            <a:tbl>
              <a:tblPr/>
              <a:tblGrid>
                <a:gridCol w="2926080">
                  <a:extLst>
                    <a:ext uri="{9D8B030D-6E8A-4147-A177-3AD203B41FA5}">
                      <a16:colId xmlns:a16="http://schemas.microsoft.com/office/drawing/2014/main" val="20000"/>
                    </a:ext>
                  </a:extLst>
                </a:gridCol>
                <a:gridCol w="1627632">
                  <a:extLst>
                    <a:ext uri="{9D8B030D-6E8A-4147-A177-3AD203B41FA5}">
                      <a16:colId xmlns:a16="http://schemas.microsoft.com/office/drawing/2014/main" val="20001"/>
                    </a:ext>
                  </a:extLst>
                </a:gridCol>
                <a:gridCol w="1627632">
                  <a:extLst>
                    <a:ext uri="{9D8B030D-6E8A-4147-A177-3AD203B41FA5}">
                      <a16:colId xmlns:a16="http://schemas.microsoft.com/office/drawing/2014/main" val="20002"/>
                    </a:ext>
                  </a:extLst>
                </a:gridCol>
                <a:gridCol w="1627632">
                  <a:extLst>
                    <a:ext uri="{9D8B030D-6E8A-4147-A177-3AD203B41FA5}">
                      <a16:colId xmlns:a16="http://schemas.microsoft.com/office/drawing/2014/main" val="20003"/>
                    </a:ext>
                  </a:extLst>
                </a:gridCol>
                <a:gridCol w="1993392">
                  <a:extLst>
                    <a:ext uri="{9D8B030D-6E8A-4147-A177-3AD203B41FA5}">
                      <a16:colId xmlns:a16="http://schemas.microsoft.com/office/drawing/2014/main" val="20004"/>
                    </a:ext>
                  </a:extLst>
                </a:gridCol>
                <a:gridCol w="1261872">
                  <a:extLst>
                    <a:ext uri="{9D8B030D-6E8A-4147-A177-3AD203B41FA5}">
                      <a16:colId xmlns:a16="http://schemas.microsoft.com/office/drawing/2014/main" val="20005"/>
                    </a:ext>
                  </a:extLst>
                </a:gridCol>
              </a:tblGrid>
              <a:tr h="502920">
                <a:tc>
                  <a:txBody>
                    <a:bodyPr/>
                    <a:lstStyle/>
                    <a:p>
                      <a:pPr marL="0" indent="0" algn="l">
                        <a:buNone/>
                      </a:pPr>
                      <a:r>
                        <a:rPr lang="en-US" sz="1300" b="1" dirty="0">
                          <a:solidFill>
                            <a:srgbClr val="EDE9E0"/>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101321"/>
                    </a:solidFill>
                  </a:tcPr>
                </a:tc>
                <a:tc>
                  <a:txBody>
                    <a:bodyPr/>
                    <a:lstStyle/>
                    <a:p>
                      <a:pPr marL="0" indent="0" algn="ctr">
                        <a:buNone/>
                      </a:pPr>
                      <a:r>
                        <a:rPr lang="en-US" sz="1300" b="1" dirty="0">
                          <a:solidFill>
                            <a:srgbClr val="EDE9E0"/>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101321"/>
                    </a:solidFill>
                  </a:tcPr>
                </a:tc>
                <a:tc>
                  <a:txBody>
                    <a:bodyPr/>
                    <a:lstStyle/>
                    <a:p>
                      <a:pPr marL="0" indent="0" algn="ctr">
                        <a:buNone/>
                      </a:pPr>
                      <a:r>
                        <a:rPr lang="en-US" sz="1300" b="1" dirty="0">
                          <a:solidFill>
                            <a:srgbClr val="EDE9E0"/>
                          </a:solidFill>
                          <a:latin typeface="Calibri" pitchFamily="34" charset="0"/>
                          <a:ea typeface="Calibri" pitchFamily="34" charset="-122"/>
                          <a:cs typeface="Calibri" pitchFamily="34" charset="-120"/>
                        </a:rPr>
                        <a:t>Weighted F1</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101321"/>
                    </a:solidFill>
                  </a:tcPr>
                </a:tc>
                <a:tc>
                  <a:txBody>
                    <a:bodyPr/>
                    <a:lstStyle/>
                    <a:p>
                      <a:pPr marL="0" indent="0" algn="ctr">
                        <a:buNone/>
                      </a:pPr>
                      <a:r>
                        <a:rPr lang="en-US" sz="1300" b="1" dirty="0">
                          <a:solidFill>
                            <a:srgbClr val="EDE9E0"/>
                          </a:solidFill>
                          <a:latin typeface="Calibri" pitchFamily="34" charset="0"/>
                          <a:ea typeface="Calibri" pitchFamily="34" charset="-122"/>
                          <a:cs typeface="Calibri" pitchFamily="34" charset="-120"/>
                        </a:rPr>
                        <a:t>Macro F1</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101321"/>
                    </a:solidFill>
                  </a:tcPr>
                </a:tc>
                <a:tc>
                  <a:txBody>
                    <a:bodyPr/>
                    <a:lstStyle/>
                    <a:p>
                      <a:pPr marL="0" indent="0" algn="ctr">
                        <a:buNone/>
                      </a:pPr>
                      <a:r>
                        <a:rPr lang="en-US" sz="1300" b="1" dirty="0">
                          <a:solidFill>
                            <a:srgbClr val="EDE9E0"/>
                          </a:solidFill>
                          <a:latin typeface="Calibri" pitchFamily="34" charset="0"/>
                          <a:ea typeface="Calibri" pitchFamily="34" charset="-122"/>
                          <a:cs typeface="Calibri" pitchFamily="34" charset="-120"/>
                        </a:rPr>
                        <a:t>Train time</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101321"/>
                    </a:solidFill>
                  </a:tcPr>
                </a:tc>
                <a:tc>
                  <a:txBody>
                    <a:bodyPr/>
                    <a:lstStyle/>
                    <a:p>
                      <a:pPr marL="0" indent="0" algn="ctr">
                        <a:buNone/>
                      </a:pPr>
                      <a:r>
                        <a:rPr lang="en-US" sz="1300" b="1" dirty="0">
                          <a:solidFill>
                            <a:srgbClr val="EDE9E0"/>
                          </a:solidFill>
                          <a:latin typeface="Calibri" pitchFamily="34" charset="0"/>
                          <a:ea typeface="Calibri" pitchFamily="34" charset="-122"/>
                          <a:cs typeface="Calibri" pitchFamily="34" charset="-120"/>
                        </a:rPr>
                        <a:t>Params</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101321"/>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1A1A2E"/>
                          </a:solidFill>
                          <a:latin typeface="Calibri" pitchFamily="34" charset="0"/>
                          <a:ea typeface="Calibri" pitchFamily="34" charset="-122"/>
                          <a:cs typeface="Calibri" pitchFamily="34" charset="-120"/>
                        </a:rPr>
                        <a:t>TF-IDF + SVM</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0.920</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0.920</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0.920</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i="1" dirty="0">
                          <a:solidFill>
                            <a:srgbClr val="6B7280"/>
                          </a:solidFill>
                          <a:latin typeface="Calibri" pitchFamily="34" charset="0"/>
                          <a:ea typeface="Calibri" pitchFamily="34" charset="-122"/>
                          <a:cs typeface="Calibri" pitchFamily="34" charset="-120"/>
                        </a:rPr>
                        <a:t>&lt;1 min (CPU)</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300" b="1" dirty="0">
                          <a:solidFill>
                            <a:srgbClr val="1A1A2E"/>
                          </a:solidFill>
                          <a:latin typeface="Calibri" pitchFamily="34" charset="0"/>
                          <a:ea typeface="Calibri" pitchFamily="34" charset="-122"/>
                          <a:cs typeface="Calibri" pitchFamily="34" charset="-120"/>
                        </a:rPr>
                        <a:t>TF-IDF + LogReg</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F0EAD9"/>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0.875</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F0EAD9"/>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0.875</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F0EAD9"/>
                    </a:solidFill>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0.870</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F0EAD9"/>
                    </a:solidFill>
                  </a:tcPr>
                </a:tc>
                <a:tc>
                  <a:txBody>
                    <a:bodyPr/>
                    <a:lstStyle/>
                    <a:p>
                      <a:pPr marL="0" indent="0" algn="ctr">
                        <a:buNone/>
                      </a:pPr>
                      <a:r>
                        <a:rPr lang="en-US" sz="1300" i="1" dirty="0">
                          <a:solidFill>
                            <a:srgbClr val="6B7280"/>
                          </a:solidFill>
                          <a:latin typeface="Calibri" pitchFamily="34" charset="0"/>
                          <a:ea typeface="Calibri" pitchFamily="34" charset="-122"/>
                          <a:cs typeface="Calibri" pitchFamily="34" charset="-120"/>
                        </a:rPr>
                        <a:t>&lt;1 min (CPU)</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F0EAD9"/>
                    </a:solidFill>
                  </a:tcPr>
                </a:tc>
                <a:tc>
                  <a:txBody>
                    <a:bodyPr/>
                    <a:lstStyle/>
                    <a:p>
                      <a:pPr marL="0" indent="0" algn="ctr">
                        <a:buNone/>
                      </a:pPr>
                      <a:r>
                        <a:rPr lang="en-US" sz="1300" dirty="0">
                          <a:solidFill>
                            <a:srgbClr val="6B728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solidFill>
                      <a:srgbClr val="F0EAD9"/>
                    </a:solidFill>
                  </a:tcPr>
                </a:tc>
                <a:extLst>
                  <a:ext uri="{0D108BD9-81ED-4DB2-BD59-A6C34878D82A}">
                    <a16:rowId xmlns:a16="http://schemas.microsoft.com/office/drawing/2014/main" val="10002"/>
                  </a:ext>
                </a:extLst>
              </a:tr>
              <a:tr h="502920">
                <a:tc>
                  <a:txBody>
                    <a:bodyPr/>
                    <a:lstStyle/>
                    <a:p>
                      <a:pPr marL="0" indent="0" algn="l">
                        <a:buNone/>
                      </a:pPr>
                      <a:r>
                        <a:rPr lang="en-US" sz="1300" b="1" dirty="0">
                          <a:solidFill>
                            <a:srgbClr val="E87461"/>
                          </a:solidFill>
                          <a:latin typeface="Calibri" pitchFamily="34" charset="0"/>
                          <a:ea typeface="Calibri" pitchFamily="34" charset="-122"/>
                          <a:cs typeface="Calibri" pitchFamily="34" charset="-120"/>
                        </a:rPr>
                        <a:t>DistilBERT (ours)</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b="1" dirty="0">
                          <a:solidFill>
                            <a:srgbClr val="E87461"/>
                          </a:solidFill>
                          <a:latin typeface="Calibri" pitchFamily="34" charset="0"/>
                          <a:ea typeface="Calibri" pitchFamily="34" charset="-122"/>
                          <a:cs typeface="Calibri" pitchFamily="34" charset="-120"/>
                        </a:rPr>
                        <a:t>0.949</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b="1" dirty="0">
                          <a:solidFill>
                            <a:srgbClr val="E87461"/>
                          </a:solidFill>
                          <a:latin typeface="Calibri" pitchFamily="34" charset="0"/>
                          <a:ea typeface="Calibri" pitchFamily="34" charset="-122"/>
                          <a:cs typeface="Calibri" pitchFamily="34" charset="-120"/>
                        </a:rPr>
                        <a:t>0.949</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b="1" dirty="0">
                          <a:solidFill>
                            <a:srgbClr val="E87461"/>
                          </a:solidFill>
                          <a:latin typeface="Calibri" pitchFamily="34" charset="0"/>
                          <a:ea typeface="Calibri" pitchFamily="34" charset="-122"/>
                          <a:cs typeface="Calibri" pitchFamily="34" charset="-120"/>
                        </a:rPr>
                        <a:t>0.947</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i="1" dirty="0">
                          <a:solidFill>
                            <a:srgbClr val="6B7280"/>
                          </a:solidFill>
                          <a:latin typeface="Calibri" pitchFamily="34" charset="0"/>
                          <a:ea typeface="Calibri" pitchFamily="34" charset="-122"/>
                          <a:cs typeface="Calibri" pitchFamily="34" charset="-120"/>
                        </a:rPr>
                        <a:t>~19 min (GPU)</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66M</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300" b="1" dirty="0">
                          <a:solidFill>
                            <a:srgbClr val="E87461"/>
                          </a:solidFill>
                          <a:latin typeface="Calibri" pitchFamily="34" charset="0"/>
                          <a:ea typeface="Calibri" pitchFamily="34" charset="-122"/>
                          <a:cs typeface="Calibri" pitchFamily="34" charset="-120"/>
                        </a:rPr>
                        <a:t>BERT-base</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b="1" dirty="0">
                          <a:solidFill>
                            <a:srgbClr val="E87461"/>
                          </a:solidFill>
                          <a:latin typeface="Calibri" pitchFamily="34" charset="0"/>
                          <a:ea typeface="Calibri" pitchFamily="34" charset="-122"/>
                          <a:cs typeface="Calibri" pitchFamily="34" charset="-120"/>
                        </a:rPr>
                        <a:t>0.958</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b="1" dirty="0">
                          <a:solidFill>
                            <a:srgbClr val="E87461"/>
                          </a:solidFill>
                          <a:latin typeface="Calibri" pitchFamily="34" charset="0"/>
                          <a:ea typeface="Calibri" pitchFamily="34" charset="-122"/>
                          <a:cs typeface="Calibri" pitchFamily="34" charset="-120"/>
                        </a:rPr>
                        <a:t>0.958</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b="1" dirty="0">
                          <a:solidFill>
                            <a:srgbClr val="E87461"/>
                          </a:solidFill>
                          <a:latin typeface="Calibri" pitchFamily="34" charset="0"/>
                          <a:ea typeface="Calibri" pitchFamily="34" charset="-122"/>
                          <a:cs typeface="Calibri" pitchFamily="34" charset="-120"/>
                        </a:rPr>
                        <a:t>0.957</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i="1" dirty="0">
                          <a:solidFill>
                            <a:srgbClr val="6B7280"/>
                          </a:solidFill>
                          <a:latin typeface="Calibri" pitchFamily="34" charset="0"/>
                          <a:ea typeface="Calibri" pitchFamily="34" charset="-122"/>
                          <a:cs typeface="Calibri" pitchFamily="34" charset="-120"/>
                        </a:rPr>
                        <a:t>~43 min (GPU)</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tc>
                  <a:txBody>
                    <a:bodyPr/>
                    <a:lstStyle/>
                    <a:p>
                      <a:pPr marL="0" indent="0" algn="ctr">
                        <a:buNone/>
                      </a:pPr>
                      <a:r>
                        <a:rPr lang="en-US" sz="1300" dirty="0">
                          <a:solidFill>
                            <a:srgbClr val="1A1A2E"/>
                          </a:solidFill>
                          <a:latin typeface="Calibri" pitchFamily="34" charset="0"/>
                          <a:ea typeface="Calibri" pitchFamily="34" charset="-122"/>
                          <a:cs typeface="Calibri" pitchFamily="34" charset="-120"/>
                        </a:rPr>
                        <a:t>110M</a:t>
                      </a:r>
                      <a:endParaRPr lang="en-US" sz="1300" dirty="0">
                        <a:latin typeface="Calibri" charset="0"/>
                        <a:ea typeface="Calibri" charset="0"/>
                        <a:cs typeface="Calibri" charset="0"/>
                      </a:endParaRPr>
                    </a:p>
                  </a:txBody>
                  <a:tcPr anchor="ctr">
                    <a:lnL w="6350" cap="flat" cmpd="sng" algn="ctr">
                      <a:solidFill>
                        <a:srgbClr val="C9C3B8"/>
                      </a:solidFill>
                      <a:prstDash val="solid"/>
                      <a:round/>
                      <a:headEnd type="none" w="med" len="med"/>
                      <a:tailEnd type="none" w="med" len="med"/>
                    </a:lnL>
                    <a:lnR w="6350" cap="flat" cmpd="sng" algn="ctr">
                      <a:solidFill>
                        <a:srgbClr val="C9C3B8"/>
                      </a:solidFill>
                      <a:prstDash val="solid"/>
                      <a:round/>
                      <a:headEnd type="none" w="med" len="med"/>
                      <a:tailEnd type="none" w="med" len="med"/>
                    </a:lnR>
                    <a:lnT w="6350" cap="flat" cmpd="sng" algn="ctr">
                      <a:solidFill>
                        <a:srgbClr val="C9C3B8"/>
                      </a:solidFill>
                      <a:prstDash val="solid"/>
                      <a:round/>
                      <a:headEnd type="none" w="med" len="med"/>
                      <a:tailEnd type="none" w="med" len="med"/>
                    </a:lnT>
                    <a:lnB w="6350" cap="flat" cmpd="sng" algn="ctr">
                      <a:solidFill>
                        <a:srgbClr val="C9C3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548640" y="4572000"/>
            <a:ext cx="11064240" cy="3200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All values are from actual runs on the 1,000-sample validation set. All models trained on the full 74K training set; both transformers fine-tuned on T4 GPU for 3 epochs.</a:t>
            </a:r>
            <a:endParaRPr lang="en-US" sz="1100" dirty="0"/>
          </a:p>
        </p:txBody>
      </p:sp>
      <p:sp>
        <p:nvSpPr>
          <p:cNvPr id="7" name="Shape 4"/>
          <p:cNvSpPr/>
          <p:nvPr/>
        </p:nvSpPr>
        <p:spPr>
          <a:xfrm>
            <a:off x="548640" y="5074920"/>
            <a:ext cx="5440680" cy="1188720"/>
          </a:xfrm>
          <a:prstGeom prst="rect">
            <a:avLst/>
          </a:prstGeom>
          <a:solidFill>
            <a:srgbClr val="FFFFFF"/>
          </a:solidFill>
          <a:ln w="9525">
            <a:solidFill>
              <a:srgbClr val="C9C3B8"/>
            </a:solidFill>
            <a:prstDash val="solid"/>
          </a:ln>
        </p:spPr>
        <p:txBody>
          <a:bodyPr/>
          <a:lstStyle/>
          <a:p>
            <a:endParaRPr lang="en-US"/>
          </a:p>
        </p:txBody>
      </p:sp>
      <p:sp>
        <p:nvSpPr>
          <p:cNvPr id="8" name="Shape 5"/>
          <p:cNvSpPr/>
          <p:nvPr/>
        </p:nvSpPr>
        <p:spPr>
          <a:xfrm>
            <a:off x="548640" y="5074920"/>
            <a:ext cx="73152" cy="1188720"/>
          </a:xfrm>
          <a:prstGeom prst="rect">
            <a:avLst/>
          </a:prstGeom>
          <a:solidFill>
            <a:srgbClr val="E87461"/>
          </a:solidFill>
          <a:ln/>
        </p:spPr>
        <p:txBody>
          <a:bodyPr/>
          <a:lstStyle/>
          <a:p>
            <a:endParaRPr lang="en-US"/>
          </a:p>
        </p:txBody>
      </p:sp>
      <p:sp>
        <p:nvSpPr>
          <p:cNvPr id="9" name="Text 6"/>
          <p:cNvSpPr/>
          <p:nvPr/>
        </p:nvSpPr>
        <p:spPr>
          <a:xfrm>
            <a:off x="777240" y="5212080"/>
            <a:ext cx="5120640" cy="41148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96% F1</a:t>
            </a:r>
            <a:endParaRPr lang="en-US" sz="2200" dirty="0"/>
          </a:p>
        </p:txBody>
      </p:sp>
      <p:sp>
        <p:nvSpPr>
          <p:cNvPr id="10" name="Text 7"/>
          <p:cNvSpPr/>
          <p:nvPr/>
        </p:nvSpPr>
        <p:spPr>
          <a:xfrm>
            <a:off x="777240" y="5623560"/>
            <a:ext cx="5120640" cy="64008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BERT-base — top score; both transformers outperform classical ML under matched compute</a:t>
            </a:r>
            <a:endParaRPr lang="en-US" sz="1200" dirty="0"/>
          </a:p>
        </p:txBody>
      </p:sp>
      <p:sp>
        <p:nvSpPr>
          <p:cNvPr id="5" name="Shape 8"/>
          <p:cNvSpPr/>
          <p:nvPr/>
        </p:nvSpPr>
        <p:spPr>
          <a:xfrm>
            <a:off x="6172200" y="5074920"/>
            <a:ext cx="5440680" cy="1188720"/>
          </a:xfrm>
          <a:prstGeom prst="rect">
            <a:avLst/>
          </a:prstGeom>
          <a:solidFill>
            <a:srgbClr val="FFFFFF"/>
          </a:solidFill>
          <a:ln w="9525">
            <a:solidFill>
              <a:srgbClr val="C9C3B8"/>
            </a:solidFill>
            <a:prstDash val="solid"/>
          </a:ln>
        </p:spPr>
        <p:txBody>
          <a:bodyPr/>
          <a:lstStyle/>
          <a:p>
            <a:endParaRPr lang="en-US"/>
          </a:p>
        </p:txBody>
      </p:sp>
      <p:sp>
        <p:nvSpPr>
          <p:cNvPr id="12" name="Shape 9"/>
          <p:cNvSpPr/>
          <p:nvPr/>
        </p:nvSpPr>
        <p:spPr>
          <a:xfrm>
            <a:off x="6172200" y="5074920"/>
            <a:ext cx="73152" cy="1188720"/>
          </a:xfrm>
          <a:prstGeom prst="rect">
            <a:avLst/>
          </a:prstGeom>
          <a:solidFill>
            <a:srgbClr val="3E8989"/>
          </a:solidFill>
          <a:ln/>
        </p:spPr>
        <p:txBody>
          <a:bodyPr/>
          <a:lstStyle/>
          <a:p>
            <a:endParaRPr lang="en-US"/>
          </a:p>
        </p:txBody>
      </p:sp>
      <p:sp>
        <p:nvSpPr>
          <p:cNvPr id="13" name="Text 10"/>
          <p:cNvSpPr/>
          <p:nvPr/>
        </p:nvSpPr>
        <p:spPr>
          <a:xfrm>
            <a:off x="6400800" y="5212080"/>
            <a:ext cx="5120640" cy="41148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2.3× faster</a:t>
            </a:r>
            <a:endParaRPr lang="en-US" sz="2200" dirty="0"/>
          </a:p>
        </p:txBody>
      </p:sp>
      <p:sp>
        <p:nvSpPr>
          <p:cNvPr id="14" name="Text 11"/>
          <p:cNvSpPr/>
          <p:nvPr/>
        </p:nvSpPr>
        <p:spPr>
          <a:xfrm>
            <a:off x="6400800" y="5623560"/>
            <a:ext cx="5120640" cy="64008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DistilBERT trains in 19 min vs. BERT's 43 min — for only 0.9 F1 points less</a:t>
            </a:r>
            <a:endParaRPr lang="en-US" sz="1200" dirty="0"/>
          </a:p>
        </p:txBody>
      </p:sp>
      <p:sp>
        <p:nvSpPr>
          <p:cNvPr id="15" name="Text 12"/>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16" name="Text 13"/>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10 · RESULTS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Where the models disagree</a:t>
            </a:r>
            <a:endParaRPr lang="en-US" sz="3600" dirty="0"/>
          </a:p>
        </p:txBody>
      </p:sp>
      <p:sp>
        <p:nvSpPr>
          <p:cNvPr id="4" name="Text 2"/>
          <p:cNvSpPr/>
          <p:nvPr/>
        </p:nvSpPr>
        <p:spPr>
          <a:xfrm>
            <a:off x="548640" y="1417320"/>
            <a:ext cx="10972800" cy="32004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DistilBERT confusion matrix on the validation set</a:t>
            </a:r>
            <a:endParaRPr lang="en-US" sz="1400" dirty="0"/>
          </a:p>
        </p:txBody>
      </p:sp>
      <p:sp>
        <p:nvSpPr>
          <p:cNvPr id="5" name="Shape 3"/>
          <p:cNvSpPr/>
          <p:nvPr/>
        </p:nvSpPr>
        <p:spPr>
          <a:xfrm>
            <a:off x="548640" y="1828800"/>
            <a:ext cx="1371600" cy="0"/>
          </a:xfrm>
          <a:prstGeom prst="line">
            <a:avLst/>
          </a:prstGeom>
          <a:noFill/>
          <a:ln w="9525">
            <a:solidFill>
              <a:srgbClr val="E87461"/>
            </a:solidFill>
            <a:prstDash val="solid"/>
          </a:ln>
        </p:spPr>
        <p:txBody>
          <a:bodyPr/>
          <a:lstStyle/>
          <a:p>
            <a:endParaRPr lang="en-US"/>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6400800" cy="3200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640080">
                <a:tc>
                  <a:txBody>
                    <a:bodyPr/>
                    <a:lstStyle/>
                    <a:p>
                      <a:pPr marL="0" indent="0">
                        <a:buNone/>
                      </a:pPr>
                      <a:endParaRPr lang="en-US" sz="1200" dirty="0"/>
                    </a:p>
                  </a:txBody>
                  <a:tcPr anchor="ctr">
                    <a:lnL w="0" cap="flat" cmpd="sng" algn="ctr">
                      <a:noFill/>
                    </a:lnL>
                    <a:lnR w="0" cap="flat" cmpd="sng" algn="ctr">
                      <a:noFill/>
                    </a:lnR>
                    <a:lnT w="0" cap="flat" cmpd="sng" algn="ctr">
                      <a:noFill/>
                    </a:lnT>
                    <a:lnB w="0" cap="flat" cmpd="sng" algn="ctr">
                      <a:noFill/>
                    </a:lnB>
                    <a:solidFill>
                      <a:srgbClr val="F6F2EB"/>
                    </a:solidFill>
                  </a:tcPr>
                </a:tc>
                <a:tc>
                  <a:txBody>
                    <a:bodyPr/>
                    <a:lstStyle/>
                    <a:p>
                      <a:pPr marL="0" indent="0" algn="ctr">
                        <a:buNone/>
                      </a:pPr>
                      <a:r>
                        <a:rPr lang="en-US" sz="1100" b="1" dirty="0">
                          <a:solidFill>
                            <a:srgbClr val="EDE9E0"/>
                          </a:solidFill>
                          <a:latin typeface="Calibri" pitchFamily="34" charset="0"/>
                          <a:ea typeface="Calibri" pitchFamily="34" charset="-122"/>
                          <a:cs typeface="Calibri" pitchFamily="34" charset="-120"/>
                        </a:rPr>
                        <a:t>Negative</a:t>
                      </a:r>
                      <a:endParaRPr lang="en-US" sz="1100" dirty="0">
                        <a:latin typeface="Calibri" charset="0"/>
                        <a:ea typeface="Calibri" charset="0"/>
                        <a:cs typeface="Calibri" charset="0"/>
                      </a:endParaRPr>
                    </a:p>
                  </a:txBody>
                  <a:tcPr anchor="ctr">
                    <a:lnL w="6350" cap="flat" cmpd="sng" algn="ctr">
                      <a:no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101321"/>
                    </a:solidFill>
                  </a:tcPr>
                </a:tc>
                <a:tc>
                  <a:txBody>
                    <a:bodyPr/>
                    <a:lstStyle/>
                    <a:p>
                      <a:pPr marL="0" indent="0" algn="ctr">
                        <a:buNone/>
                      </a:pPr>
                      <a:r>
                        <a:rPr lang="en-US" sz="1100" b="1" dirty="0">
                          <a:solidFill>
                            <a:srgbClr val="EDE9E0"/>
                          </a:solidFill>
                          <a:latin typeface="Calibri" pitchFamily="34" charset="0"/>
                          <a:ea typeface="Calibri" pitchFamily="34" charset="-122"/>
                          <a:cs typeface="Calibri" pitchFamily="34" charset="-120"/>
                        </a:rPr>
                        <a:t>Neutral</a:t>
                      </a:r>
                      <a:endParaRPr lang="en-US" sz="11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101321"/>
                    </a:solidFill>
                  </a:tcPr>
                </a:tc>
                <a:tc>
                  <a:txBody>
                    <a:bodyPr/>
                    <a:lstStyle/>
                    <a:p>
                      <a:pPr marL="0" indent="0" algn="ctr">
                        <a:buNone/>
                      </a:pPr>
                      <a:r>
                        <a:rPr lang="en-US" sz="1100" b="1" dirty="0">
                          <a:solidFill>
                            <a:srgbClr val="EDE9E0"/>
                          </a:solidFill>
                          <a:latin typeface="Calibri" pitchFamily="34" charset="0"/>
                          <a:ea typeface="Calibri" pitchFamily="34" charset="-122"/>
                          <a:cs typeface="Calibri" pitchFamily="34" charset="-120"/>
                        </a:rPr>
                        <a:t>Positive</a:t>
                      </a:r>
                      <a:endParaRPr lang="en-US" sz="11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101321"/>
                    </a:solidFill>
                  </a:tcPr>
                </a:tc>
                <a:tc>
                  <a:txBody>
                    <a:bodyPr/>
                    <a:lstStyle/>
                    <a:p>
                      <a:pPr marL="0" indent="0" algn="ctr">
                        <a:buNone/>
                      </a:pPr>
                      <a:r>
                        <a:rPr lang="en-US" sz="1100" b="1" dirty="0">
                          <a:solidFill>
                            <a:srgbClr val="EDE9E0"/>
                          </a:solidFill>
                          <a:latin typeface="Calibri" pitchFamily="34" charset="0"/>
                          <a:ea typeface="Calibri" pitchFamily="34" charset="-122"/>
                          <a:cs typeface="Calibri" pitchFamily="34" charset="-120"/>
                        </a:rPr>
                        <a:t>Irrelevant</a:t>
                      </a:r>
                      <a:endParaRPr lang="en-US" sz="11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101321"/>
                    </a:solidFill>
                  </a:tcPr>
                </a:tc>
                <a:extLst>
                  <a:ext uri="{0D108BD9-81ED-4DB2-BD59-A6C34878D82A}">
                    <a16:rowId xmlns:a16="http://schemas.microsoft.com/office/drawing/2014/main" val="10000"/>
                  </a:ext>
                </a:extLst>
              </a:tr>
              <a:tr h="640080">
                <a:tc>
                  <a:txBody>
                    <a:bodyPr/>
                    <a:lstStyle/>
                    <a:p>
                      <a:pPr marL="0" indent="0" algn="r">
                        <a:buNone/>
                      </a:pPr>
                      <a:r>
                        <a:rPr lang="en-US" sz="1100" b="1" dirty="0">
                          <a:solidFill>
                            <a:srgbClr val="EDE9E0"/>
                          </a:solidFill>
                          <a:latin typeface="Calibri" pitchFamily="34" charset="0"/>
                          <a:ea typeface="Calibri" pitchFamily="34" charset="-122"/>
                          <a:cs typeface="Calibri" pitchFamily="34" charset="-120"/>
                        </a:rPr>
                        <a:t>Negative</a:t>
                      </a:r>
                      <a:endParaRPr lang="en-US" sz="11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10132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254</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E87461"/>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ADDD2"/>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ADDD2"/>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DEEE8"/>
                    </a:solidFill>
                  </a:tcPr>
                </a:tc>
                <a:extLst>
                  <a:ext uri="{0D108BD9-81ED-4DB2-BD59-A6C34878D82A}">
                    <a16:rowId xmlns:a16="http://schemas.microsoft.com/office/drawing/2014/main" val="10001"/>
                  </a:ext>
                </a:extLst>
              </a:tr>
              <a:tr h="640080">
                <a:tc>
                  <a:txBody>
                    <a:bodyPr/>
                    <a:lstStyle/>
                    <a:p>
                      <a:pPr marL="0" indent="0" algn="r">
                        <a:buNone/>
                      </a:pPr>
                      <a:r>
                        <a:rPr lang="en-US" sz="1100" b="1" dirty="0">
                          <a:solidFill>
                            <a:srgbClr val="EDE9E0"/>
                          </a:solidFill>
                          <a:latin typeface="Calibri" pitchFamily="34" charset="0"/>
                          <a:ea typeface="Calibri" pitchFamily="34" charset="-122"/>
                          <a:cs typeface="Calibri" pitchFamily="34" charset="-120"/>
                        </a:rPr>
                        <a:t>Neutral</a:t>
                      </a:r>
                      <a:endParaRPr lang="en-US" sz="11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101321"/>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6C9B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269</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E87461"/>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6C9BD"/>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ADDD2"/>
                    </a:solidFill>
                  </a:tcPr>
                </a:tc>
                <a:extLst>
                  <a:ext uri="{0D108BD9-81ED-4DB2-BD59-A6C34878D82A}">
                    <a16:rowId xmlns:a16="http://schemas.microsoft.com/office/drawing/2014/main" val="10002"/>
                  </a:ext>
                </a:extLst>
              </a:tr>
              <a:tr h="640080">
                <a:tc>
                  <a:txBody>
                    <a:bodyPr/>
                    <a:lstStyle/>
                    <a:p>
                      <a:pPr marL="0" indent="0" algn="r">
                        <a:buNone/>
                      </a:pPr>
                      <a:r>
                        <a:rPr lang="en-US" sz="1100" b="1" dirty="0">
                          <a:solidFill>
                            <a:srgbClr val="EDE9E0"/>
                          </a:solidFill>
                          <a:latin typeface="Calibri" pitchFamily="34" charset="0"/>
                          <a:ea typeface="Calibri" pitchFamily="34" charset="-122"/>
                          <a:cs typeface="Calibri" pitchFamily="34" charset="-120"/>
                        </a:rPr>
                        <a:t>Positive</a:t>
                      </a:r>
                      <a:endParaRPr lang="en-US" sz="11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101321"/>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6C9BD"/>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ADDD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268</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E87461"/>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DEEE8"/>
                    </a:solidFill>
                  </a:tcPr>
                </a:tc>
                <a:extLst>
                  <a:ext uri="{0D108BD9-81ED-4DB2-BD59-A6C34878D82A}">
                    <a16:rowId xmlns:a16="http://schemas.microsoft.com/office/drawing/2014/main" val="10003"/>
                  </a:ext>
                </a:extLst>
              </a:tr>
              <a:tr h="640080">
                <a:tc>
                  <a:txBody>
                    <a:bodyPr/>
                    <a:lstStyle/>
                    <a:p>
                      <a:pPr marL="0" indent="0" algn="r">
                        <a:buNone/>
                      </a:pPr>
                      <a:r>
                        <a:rPr lang="en-US" sz="1100" b="1" dirty="0">
                          <a:solidFill>
                            <a:srgbClr val="EDE9E0"/>
                          </a:solidFill>
                          <a:latin typeface="Calibri" pitchFamily="34" charset="0"/>
                          <a:ea typeface="Calibri" pitchFamily="34" charset="-122"/>
                          <a:cs typeface="Calibri" pitchFamily="34" charset="-120"/>
                        </a:rPr>
                        <a:t>Irrelevant</a:t>
                      </a:r>
                      <a:endParaRPr lang="en-US" sz="11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101321"/>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6C9BD"/>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ADDD2"/>
                    </a:solidFill>
                  </a:tcPr>
                </a:tc>
                <a:tc>
                  <a:txBody>
                    <a:bodyPr/>
                    <a:lstStyle/>
                    <a:p>
                      <a:pPr marL="0" indent="0" algn="ctr">
                        <a:buNone/>
                      </a:pPr>
                      <a:r>
                        <a:rPr lang="en-US" sz="1400" dirty="0">
                          <a:solidFill>
                            <a:srgbClr val="1A1A2E"/>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6C9BD"/>
                    </a:solidFill>
                  </a:tcPr>
                </a:tc>
                <a:tc>
                  <a:txBody>
                    <a:bodyPr/>
                    <a:lstStyle/>
                    <a:p>
                      <a:pPr marL="0" indent="0" algn="ctr">
                        <a:buNone/>
                      </a:pPr>
                      <a:r>
                        <a:rPr lang="en-US" sz="1400" b="1" dirty="0">
                          <a:solidFill>
                            <a:srgbClr val="1A1A2E"/>
                          </a:solidFill>
                          <a:latin typeface="Calibri" pitchFamily="34" charset="0"/>
                          <a:ea typeface="Calibri" pitchFamily="34" charset="-122"/>
                          <a:cs typeface="Calibri" pitchFamily="34" charset="-120"/>
                        </a:rPr>
                        <a:t>158</a:t>
                      </a:r>
                      <a:endParaRPr lang="en-US" sz="1400" dirty="0">
                        <a:latin typeface="Calibri" charset="0"/>
                        <a:ea typeface="Calibri" charset="0"/>
                        <a:cs typeface="Calibri" charset="0"/>
                      </a:endParaRPr>
                    </a:p>
                  </a:txBody>
                  <a:tcPr anchor="ctr">
                    <a:lnL w="6350" cap="flat" cmpd="sng" algn="ctr">
                      <a:solidFill>
                        <a:srgbClr val="F6F2EB"/>
                      </a:solidFill>
                      <a:prstDash val="solid"/>
                      <a:round/>
                      <a:headEnd type="none" w="med" len="med"/>
                      <a:tailEnd type="none" w="med" len="med"/>
                    </a:lnL>
                    <a:lnR w="6350" cap="flat" cmpd="sng" algn="ctr">
                      <a:solidFill>
                        <a:srgbClr val="F6F2EB"/>
                      </a:solidFill>
                      <a:prstDash val="solid"/>
                      <a:round/>
                      <a:headEnd type="none" w="med" len="med"/>
                      <a:tailEnd type="none" w="med" len="med"/>
                    </a:lnR>
                    <a:lnT w="6350" cap="flat" cmpd="sng" algn="ctr">
                      <a:solidFill>
                        <a:srgbClr val="F6F2EB"/>
                      </a:solidFill>
                      <a:prstDash val="solid"/>
                      <a:round/>
                      <a:headEnd type="none" w="med" len="med"/>
                      <a:tailEnd type="none" w="med" len="med"/>
                    </a:lnT>
                    <a:lnB w="6350" cap="flat" cmpd="sng" algn="ctr">
                      <a:solidFill>
                        <a:srgbClr val="F6F2EB"/>
                      </a:solidFill>
                      <a:prstDash val="solid"/>
                      <a:round/>
                      <a:headEnd type="none" w="med" len="med"/>
                      <a:tailEnd type="none" w="med" len="med"/>
                    </a:lnB>
                    <a:solidFill>
                      <a:srgbClr val="F6C9BD"/>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760720"/>
            <a:ext cx="6400800" cy="274320"/>
          </a:xfrm>
          <a:prstGeom prst="rect">
            <a:avLst/>
          </a:prstGeom>
          <a:noFill/>
          <a:ln/>
        </p:spPr>
        <p:txBody>
          <a:bodyPr wrap="square"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Predicted →</a:t>
            </a:r>
            <a:endParaRPr lang="en-US" sz="1100" dirty="0"/>
          </a:p>
        </p:txBody>
      </p:sp>
      <p:sp>
        <p:nvSpPr>
          <p:cNvPr id="8" name="Text 5"/>
          <p:cNvSpPr/>
          <p:nvPr/>
        </p:nvSpPr>
        <p:spPr>
          <a:xfrm rot="16200000">
            <a:off x="45720" y="2468880"/>
            <a:ext cx="457200" cy="3200400"/>
          </a:xfrm>
          <a:prstGeom prst="rect">
            <a:avLst/>
          </a:prstGeom>
          <a:noFill/>
          <a:ln/>
        </p:spPr>
        <p:txBody>
          <a:bodyPr wrap="square"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 True</a:t>
            </a:r>
            <a:endParaRPr lang="en-US" sz="1100" dirty="0"/>
          </a:p>
        </p:txBody>
      </p:sp>
      <p:sp>
        <p:nvSpPr>
          <p:cNvPr id="9" name="Text 6"/>
          <p:cNvSpPr/>
          <p:nvPr/>
        </p:nvSpPr>
        <p:spPr>
          <a:xfrm>
            <a:off x="7223760" y="2468880"/>
            <a:ext cx="4389120" cy="274320"/>
          </a:xfrm>
          <a:prstGeom prst="rect">
            <a:avLst/>
          </a:prstGeom>
          <a:noFill/>
          <a:ln/>
        </p:spPr>
        <p:txBody>
          <a:bodyPr wrap="square" rtlCol="0" anchor="ctr"/>
          <a:lstStyle/>
          <a:p>
            <a:pPr marL="0" indent="0">
              <a:buNone/>
            </a:pPr>
            <a:r>
              <a:rPr lang="en-US" sz="1100" b="1" kern="0" spc="300" dirty="0">
                <a:solidFill>
                  <a:srgbClr val="E87461"/>
                </a:solidFill>
                <a:latin typeface="Calibri" pitchFamily="34" charset="0"/>
                <a:ea typeface="Calibri" pitchFamily="34" charset="-122"/>
                <a:cs typeface="Calibri" pitchFamily="34" charset="-120"/>
              </a:rPr>
              <a:t>READING THE MATRIX</a:t>
            </a:r>
            <a:endParaRPr lang="en-US" sz="1100" dirty="0"/>
          </a:p>
        </p:txBody>
      </p:sp>
      <p:sp>
        <p:nvSpPr>
          <p:cNvPr id="10" name="Text 7"/>
          <p:cNvSpPr/>
          <p:nvPr/>
        </p:nvSpPr>
        <p:spPr>
          <a:xfrm>
            <a:off x="7223760" y="2788920"/>
            <a:ext cx="4389120" cy="3017520"/>
          </a:xfrm>
          <a:prstGeom prst="rect">
            <a:avLst/>
          </a:prstGeom>
          <a:noFill/>
          <a:ln/>
        </p:spPr>
        <p:txBody>
          <a:bodyPr wrap="square" rtlCol="0" anchor="ctr"/>
          <a:lstStyle/>
          <a:p>
            <a:pPr marL="0" indent="0">
              <a:spcAft>
                <a:spcPts val="400"/>
              </a:spcAft>
              <a:buNone/>
            </a:pPr>
            <a:r>
              <a:rPr lang="en-US" sz="1400" b="1" dirty="0">
                <a:solidFill>
                  <a:srgbClr val="1A1A2E"/>
                </a:solidFill>
                <a:latin typeface="Calibri" pitchFamily="34" charset="0"/>
                <a:ea typeface="Calibri" pitchFamily="34" charset="-122"/>
                <a:cs typeface="Calibri" pitchFamily="34" charset="-120"/>
              </a:rPr>
              <a:t>All four classes above 90%</a:t>
            </a:r>
            <a:endParaRPr lang="en-US" sz="1400" dirty="0"/>
          </a:p>
          <a:p>
            <a:pPr marL="0" indent="0">
              <a:spcAft>
                <a:spcPts val="400"/>
              </a:spcAft>
              <a:buNone/>
            </a:pPr>
            <a:r>
              <a:rPr lang="en-US" sz="1200" dirty="0">
                <a:solidFill>
                  <a:srgbClr val="6B7280"/>
                </a:solidFill>
                <a:latin typeface="Calibri" pitchFamily="34" charset="0"/>
                <a:ea typeface="Calibri" pitchFamily="34" charset="-122"/>
                <a:cs typeface="Calibri" pitchFamily="34" charset="-120"/>
              </a:rPr>
              <a:t>Per-class recall: Negative 95%, Neutral 94%, Positive 97%, Irrelevant 92%. BERT follows an almost identical pattern (96 / 96 / 97 / 92).</a:t>
            </a:r>
            <a:endParaRPr lang="en-US" sz="1400" dirty="0"/>
          </a:p>
          <a:p>
            <a:pPr marL="0" indent="0">
              <a:spcAft>
                <a:spcPts val="400"/>
              </a:spcAft>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marL="0" indent="0">
              <a:spcAft>
                <a:spcPts val="400"/>
              </a:spcAft>
              <a:buNone/>
            </a:pPr>
            <a:r>
              <a:rPr lang="en-US" sz="1400" b="1" dirty="0">
                <a:solidFill>
                  <a:srgbClr val="1A1A2E"/>
                </a:solidFill>
                <a:latin typeface="Calibri" pitchFamily="34" charset="0"/>
                <a:ea typeface="Calibri" pitchFamily="34" charset="-122"/>
                <a:cs typeface="Calibri" pitchFamily="34" charset="-120"/>
              </a:rPr>
              <a:t>Neutral bleeds into Positive</a:t>
            </a:r>
            <a:endParaRPr lang="en-US" sz="1400" dirty="0"/>
          </a:p>
          <a:p>
            <a:pPr marL="0" indent="0">
              <a:spcAft>
                <a:spcPts val="400"/>
              </a:spcAft>
              <a:buNone/>
            </a:pPr>
            <a:r>
              <a:rPr lang="en-US" sz="1200" dirty="0">
                <a:solidFill>
                  <a:srgbClr val="6B7280"/>
                </a:solidFill>
                <a:latin typeface="Calibri" pitchFamily="34" charset="0"/>
                <a:ea typeface="Calibri" pitchFamily="34" charset="-122"/>
                <a:cs typeface="Calibri" pitchFamily="34" charset="-120"/>
              </a:rPr>
              <a:t>9 of 16 Neutral errors land in Positive — mildly affirmative wording reads as sentiment-bearing.</a:t>
            </a:r>
            <a:endParaRPr lang="en-US" sz="1400" dirty="0"/>
          </a:p>
          <a:p>
            <a:pPr marL="0" indent="0">
              <a:spcAft>
                <a:spcPts val="400"/>
              </a:spcAft>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marL="0" indent="0">
              <a:spcAft>
                <a:spcPts val="400"/>
              </a:spcAft>
              <a:buNone/>
            </a:pPr>
            <a:r>
              <a:rPr lang="en-US" sz="1400" b="1" dirty="0">
                <a:solidFill>
                  <a:srgbClr val="1A1A2E"/>
                </a:solidFill>
                <a:latin typeface="Calibri" pitchFamily="34" charset="0"/>
                <a:ea typeface="Calibri" pitchFamily="34" charset="-122"/>
                <a:cs typeface="Calibri" pitchFamily="34" charset="-120"/>
              </a:rPr>
              <a:t>Irrelevant is the weakest class (92% recall)</a:t>
            </a:r>
            <a:endParaRPr lang="en-US" sz="1400" dirty="0"/>
          </a:p>
          <a:p>
            <a:pPr marL="0" indent="0">
              <a:spcAft>
                <a:spcPts val="400"/>
              </a:spcAft>
              <a:buNone/>
            </a:pPr>
            <a:r>
              <a:rPr lang="en-US" sz="1200" dirty="0">
                <a:solidFill>
                  <a:srgbClr val="6B7280"/>
                </a:solidFill>
                <a:latin typeface="Calibri" pitchFamily="34" charset="0"/>
                <a:ea typeface="Calibri" pitchFamily="34" charset="-122"/>
                <a:cs typeface="Calibri" pitchFamily="34" charset="-120"/>
              </a:rPr>
              <a:t>Smallest class with no shared linguistic signal — H3 partially confirmed.</a:t>
            </a:r>
            <a:endParaRPr lang="en-US" sz="1400" dirty="0"/>
          </a:p>
        </p:txBody>
      </p:sp>
      <p:sp>
        <p:nvSpPr>
          <p:cNvPr id="11" name="Text 8"/>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6" name="Text 9"/>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11 · CONCLUSIONS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What we learned</a:t>
            </a:r>
            <a:endParaRPr lang="en-US" sz="3600" dirty="0"/>
          </a:p>
        </p:txBody>
      </p:sp>
      <p:sp>
        <p:nvSpPr>
          <p:cNvPr id="4" name="Shape 2"/>
          <p:cNvSpPr/>
          <p:nvPr/>
        </p:nvSpPr>
        <p:spPr>
          <a:xfrm>
            <a:off x="548640" y="1691640"/>
            <a:ext cx="1371600" cy="0"/>
          </a:xfrm>
          <a:prstGeom prst="line">
            <a:avLst/>
          </a:prstGeom>
          <a:noFill/>
          <a:ln w="9525">
            <a:solidFill>
              <a:srgbClr val="E87461"/>
            </a:solidFill>
            <a:prstDash val="solid"/>
          </a:ln>
        </p:spPr>
        <p:txBody>
          <a:bodyPr/>
          <a:lstStyle/>
          <a:p>
            <a:endParaRPr lang="en-US"/>
          </a:p>
        </p:txBody>
      </p:sp>
      <p:sp>
        <p:nvSpPr>
          <p:cNvPr id="5" name="Text 3"/>
          <p:cNvSpPr/>
          <p:nvPr/>
        </p:nvSpPr>
        <p:spPr>
          <a:xfrm>
            <a:off x="548640" y="2103120"/>
            <a:ext cx="1645920" cy="1188720"/>
          </a:xfrm>
          <a:prstGeom prst="rect">
            <a:avLst/>
          </a:prstGeom>
          <a:noFill/>
          <a:ln/>
        </p:spPr>
        <p:txBody>
          <a:bodyPr wrap="square" rtlCol="0" anchor="t"/>
          <a:lstStyle/>
          <a:p>
            <a:pPr marL="0" indent="0">
              <a:buNone/>
            </a:pPr>
            <a:r>
              <a:rPr lang="en-US" sz="7200" b="1" dirty="0">
                <a:solidFill>
                  <a:srgbClr val="E87461"/>
                </a:solidFill>
                <a:latin typeface="Georgia" pitchFamily="34" charset="0"/>
                <a:ea typeface="Georgia" pitchFamily="34" charset="-122"/>
                <a:cs typeface="Georgia" pitchFamily="34" charset="-120"/>
              </a:rPr>
              <a:t>01</a:t>
            </a:r>
            <a:endParaRPr lang="en-US" sz="7200" dirty="0"/>
          </a:p>
        </p:txBody>
      </p:sp>
      <p:sp>
        <p:nvSpPr>
          <p:cNvPr id="6" name="Text 4"/>
          <p:cNvSpPr/>
          <p:nvPr/>
        </p:nvSpPr>
        <p:spPr>
          <a:xfrm>
            <a:off x="2286000" y="2194560"/>
            <a:ext cx="932688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Transformer wins with matched compute.</a:t>
            </a:r>
            <a:endParaRPr lang="en-US" sz="2200" dirty="0"/>
          </a:p>
        </p:txBody>
      </p:sp>
      <p:sp>
        <p:nvSpPr>
          <p:cNvPr id="7" name="Text 5"/>
          <p:cNvSpPr/>
          <p:nvPr/>
        </p:nvSpPr>
        <p:spPr>
          <a:xfrm>
            <a:off x="2286000" y="2697480"/>
            <a:ext cx="9326880" cy="6858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On the full 74K training set, BERT-base reached 0.958 weighted F1 and DistilBERT 0.949 — both above TF-IDF + SVM's 0.920. BERT edges DistilBERT by 0.9 F1 points but at 2.3× the training time, confirming both H1 and H2.</a:t>
            </a:r>
            <a:endParaRPr lang="en-US" sz="1300" dirty="0"/>
          </a:p>
        </p:txBody>
      </p:sp>
      <p:sp>
        <p:nvSpPr>
          <p:cNvPr id="8" name="Text 6"/>
          <p:cNvSpPr/>
          <p:nvPr/>
        </p:nvSpPr>
        <p:spPr>
          <a:xfrm>
            <a:off x="548640" y="3429000"/>
            <a:ext cx="1645920" cy="1188720"/>
          </a:xfrm>
          <a:prstGeom prst="rect">
            <a:avLst/>
          </a:prstGeom>
          <a:noFill/>
          <a:ln/>
        </p:spPr>
        <p:txBody>
          <a:bodyPr wrap="square" rtlCol="0" anchor="t"/>
          <a:lstStyle/>
          <a:p>
            <a:pPr marL="0" indent="0">
              <a:buNone/>
            </a:pPr>
            <a:r>
              <a:rPr lang="en-US" sz="7200" b="1" dirty="0">
                <a:solidFill>
                  <a:srgbClr val="3E8989"/>
                </a:solidFill>
                <a:latin typeface="Georgia" pitchFamily="34" charset="0"/>
                <a:ea typeface="Georgia" pitchFamily="34" charset="-122"/>
                <a:cs typeface="Georgia" pitchFamily="34" charset="-120"/>
              </a:rPr>
              <a:t>02</a:t>
            </a:r>
            <a:endParaRPr lang="en-US" sz="7200" dirty="0"/>
          </a:p>
        </p:txBody>
      </p:sp>
      <p:sp>
        <p:nvSpPr>
          <p:cNvPr id="9" name="Text 7"/>
          <p:cNvSpPr/>
          <p:nvPr/>
        </p:nvSpPr>
        <p:spPr>
          <a:xfrm>
            <a:off x="2286000" y="3520440"/>
            <a:ext cx="932688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Naive benchmarks mislead.</a:t>
            </a:r>
            <a:endParaRPr lang="en-US" sz="2200" dirty="0"/>
          </a:p>
        </p:txBody>
      </p:sp>
      <p:sp>
        <p:nvSpPr>
          <p:cNvPr id="10" name="Text 8"/>
          <p:cNvSpPr/>
          <p:nvPr/>
        </p:nvSpPr>
        <p:spPr>
          <a:xfrm>
            <a:off x="2286000" y="4023360"/>
            <a:ext cx="9326880" cy="6858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Our own 5K-subset, CPU-only DistilBERT run scored 0.63 F1 — 30 points below the full run. Compute and data parity are prerequisites for any fair model comparison.</a:t>
            </a:r>
            <a:endParaRPr lang="en-US" sz="1300" dirty="0"/>
          </a:p>
        </p:txBody>
      </p:sp>
      <p:sp>
        <p:nvSpPr>
          <p:cNvPr id="11" name="Text 9"/>
          <p:cNvSpPr/>
          <p:nvPr/>
        </p:nvSpPr>
        <p:spPr>
          <a:xfrm>
            <a:off x="548640" y="4754880"/>
            <a:ext cx="1645920" cy="1188720"/>
          </a:xfrm>
          <a:prstGeom prst="rect">
            <a:avLst/>
          </a:prstGeom>
          <a:noFill/>
          <a:ln/>
        </p:spPr>
        <p:txBody>
          <a:bodyPr wrap="square" rtlCol="0" anchor="t"/>
          <a:lstStyle/>
          <a:p>
            <a:pPr marL="0" indent="0">
              <a:buNone/>
            </a:pPr>
            <a:r>
              <a:rPr lang="en-US" sz="7200" b="1" dirty="0">
                <a:solidFill>
                  <a:srgbClr val="D4A84B"/>
                </a:solidFill>
                <a:latin typeface="Georgia" pitchFamily="34" charset="0"/>
                <a:ea typeface="Georgia" pitchFamily="34" charset="-122"/>
                <a:cs typeface="Georgia" pitchFamily="34" charset="-120"/>
              </a:rPr>
              <a:t>03</a:t>
            </a:r>
            <a:endParaRPr lang="en-US" sz="7200" dirty="0"/>
          </a:p>
        </p:txBody>
      </p:sp>
      <p:sp>
        <p:nvSpPr>
          <p:cNvPr id="12" name="Text 10"/>
          <p:cNvSpPr/>
          <p:nvPr/>
        </p:nvSpPr>
        <p:spPr>
          <a:xfrm>
            <a:off x="2286000" y="4846320"/>
            <a:ext cx="9326880" cy="502920"/>
          </a:xfrm>
          <a:prstGeom prst="rect">
            <a:avLst/>
          </a:prstGeom>
          <a:noFill/>
          <a:ln/>
        </p:spPr>
        <p:txBody>
          <a:bodyPr wrap="square"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TF-IDF remains a strong, cheap baseline.</a:t>
            </a:r>
            <a:endParaRPr lang="en-US" sz="2200" dirty="0"/>
          </a:p>
        </p:txBody>
      </p:sp>
      <p:sp>
        <p:nvSpPr>
          <p:cNvPr id="13" name="Text 11"/>
          <p:cNvSpPr/>
          <p:nvPr/>
        </p:nvSpPr>
        <p:spPr>
          <a:xfrm>
            <a:off x="2286000" y="5349240"/>
            <a:ext cx="9326880" cy="6858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SVM landed within 3 F1 points of a fine-tuned transformer in under a minute on CPU — a reminder that a well-chosen classical model is the right first move, not the afterthought.</a:t>
            </a:r>
            <a:endParaRPr lang="en-US" sz="1300" dirty="0"/>
          </a:p>
        </p:txBody>
      </p:sp>
      <p:sp>
        <p:nvSpPr>
          <p:cNvPr id="14" name="Text 12"/>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15" name="Text 13"/>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marL="0" indent="0">
              <a:buNone/>
            </a:pPr>
            <a:r>
              <a:rPr lang="en-US" sz="1000" b="1" kern="0" spc="400" dirty="0">
                <a:solidFill>
                  <a:srgbClr val="E87461"/>
                </a:solidFill>
                <a:latin typeface="Calibri" pitchFamily="34" charset="0"/>
                <a:ea typeface="Calibri" pitchFamily="34" charset="-122"/>
                <a:cs typeface="Calibri" pitchFamily="34" charset="-120"/>
              </a:rPr>
              <a:t>12 · CONCLUSIONS</a:t>
            </a:r>
            <a:endParaRPr lang="en-US" sz="1000" dirty="0"/>
          </a:p>
        </p:txBody>
      </p:sp>
      <p:sp>
        <p:nvSpPr>
          <p:cNvPr id="3" name="Text 1"/>
          <p:cNvSpPr/>
          <p:nvPr/>
        </p:nvSpPr>
        <p:spPr>
          <a:xfrm>
            <a:off x="548640" y="822960"/>
            <a:ext cx="10972800" cy="731520"/>
          </a:xfrm>
          <a:prstGeom prst="rect">
            <a:avLst/>
          </a:prstGeom>
          <a:noFill/>
          <a:ln/>
        </p:spPr>
        <p:txBody>
          <a:bodyPr wrap="square" rtlCol="0" anchor="ctr"/>
          <a:lstStyle/>
          <a:p>
            <a:pPr marL="0" indent="0">
              <a:buNone/>
            </a:pPr>
            <a:r>
              <a:rPr lang="en-US" sz="3600" b="1" dirty="0">
                <a:solidFill>
                  <a:srgbClr val="1A1A2E"/>
                </a:solidFill>
                <a:latin typeface="Georgia" pitchFamily="34" charset="0"/>
                <a:ea typeface="Georgia" pitchFamily="34" charset="-122"/>
                <a:cs typeface="Georgia" pitchFamily="34" charset="-120"/>
              </a:rPr>
              <a:t>Limitations &amp; next steps</a:t>
            </a:r>
            <a:endParaRPr lang="en-US" sz="3600" dirty="0"/>
          </a:p>
        </p:txBody>
      </p:sp>
      <p:sp>
        <p:nvSpPr>
          <p:cNvPr id="4" name="Shape 2"/>
          <p:cNvSpPr/>
          <p:nvPr/>
        </p:nvSpPr>
        <p:spPr>
          <a:xfrm>
            <a:off x="548640" y="1691640"/>
            <a:ext cx="1371600" cy="0"/>
          </a:xfrm>
          <a:prstGeom prst="line">
            <a:avLst/>
          </a:prstGeom>
          <a:noFill/>
          <a:ln w="9525">
            <a:solidFill>
              <a:srgbClr val="E87461"/>
            </a:solidFill>
            <a:prstDash val="solid"/>
          </a:ln>
        </p:spPr>
        <p:txBody>
          <a:bodyPr/>
          <a:lstStyle/>
          <a:p>
            <a:endParaRPr lang="en-US"/>
          </a:p>
        </p:txBody>
      </p:sp>
      <p:sp>
        <p:nvSpPr>
          <p:cNvPr id="5" name="Text 3"/>
          <p:cNvSpPr/>
          <p:nvPr/>
        </p:nvSpPr>
        <p:spPr>
          <a:xfrm>
            <a:off x="548640" y="2011680"/>
            <a:ext cx="5303520" cy="274320"/>
          </a:xfrm>
          <a:prstGeom prst="rect">
            <a:avLst/>
          </a:prstGeom>
          <a:noFill/>
          <a:ln/>
        </p:spPr>
        <p:txBody>
          <a:bodyPr wrap="square" rtlCol="0" anchor="ctr"/>
          <a:lstStyle/>
          <a:p>
            <a:pPr marL="0" indent="0">
              <a:buNone/>
            </a:pPr>
            <a:r>
              <a:rPr lang="en-US" sz="1200" b="1" kern="0" spc="400" dirty="0">
                <a:solidFill>
                  <a:srgbClr val="E87461"/>
                </a:solidFill>
                <a:latin typeface="Calibri" pitchFamily="34" charset="0"/>
                <a:ea typeface="Calibri" pitchFamily="34" charset="-122"/>
                <a:cs typeface="Calibri" pitchFamily="34" charset="-120"/>
              </a:rPr>
              <a:t>LIMITATIONS</a:t>
            </a:r>
            <a:endParaRPr lang="en-US" sz="1200" dirty="0"/>
          </a:p>
        </p:txBody>
      </p:sp>
      <p:sp>
        <p:nvSpPr>
          <p:cNvPr id="6" name="Shape 4"/>
          <p:cNvSpPr/>
          <p:nvPr/>
        </p:nvSpPr>
        <p:spPr>
          <a:xfrm>
            <a:off x="548640" y="2377440"/>
            <a:ext cx="5303520" cy="3840480"/>
          </a:xfrm>
          <a:prstGeom prst="rect">
            <a:avLst/>
          </a:prstGeom>
          <a:solidFill>
            <a:srgbClr val="FFFFFF"/>
          </a:solidFill>
          <a:ln w="9525">
            <a:solidFill>
              <a:srgbClr val="C9C3B8"/>
            </a:solidFill>
            <a:prstDash val="solid"/>
          </a:ln>
        </p:spPr>
        <p:txBody>
          <a:bodyPr/>
          <a:lstStyle/>
          <a:p>
            <a:endParaRPr lang="en-US"/>
          </a:p>
        </p:txBody>
      </p:sp>
      <p:sp>
        <p:nvSpPr>
          <p:cNvPr id="7" name="Shape 5"/>
          <p:cNvSpPr/>
          <p:nvPr/>
        </p:nvSpPr>
        <p:spPr>
          <a:xfrm>
            <a:off x="777240" y="2633472"/>
            <a:ext cx="164592" cy="164592"/>
          </a:xfrm>
          <a:prstGeom prst="ellipse">
            <a:avLst/>
          </a:prstGeom>
          <a:solidFill>
            <a:srgbClr val="E87461"/>
          </a:solidFill>
          <a:ln/>
        </p:spPr>
        <p:txBody>
          <a:bodyPr/>
          <a:lstStyle/>
          <a:p>
            <a:endParaRPr lang="en-US"/>
          </a:p>
        </p:txBody>
      </p:sp>
      <p:sp>
        <p:nvSpPr>
          <p:cNvPr id="8" name="Text 6"/>
          <p:cNvSpPr/>
          <p:nvPr/>
        </p:nvSpPr>
        <p:spPr>
          <a:xfrm>
            <a:off x="1051560" y="2560320"/>
            <a:ext cx="4663440" cy="32004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Single training run per model</a:t>
            </a:r>
            <a:endParaRPr lang="en-US" sz="1300" dirty="0"/>
          </a:p>
        </p:txBody>
      </p:sp>
      <p:sp>
        <p:nvSpPr>
          <p:cNvPr id="9" name="Text 7"/>
          <p:cNvSpPr/>
          <p:nvPr/>
        </p:nvSpPr>
        <p:spPr>
          <a:xfrm>
            <a:off x="1051560" y="2880360"/>
            <a:ext cx="4663440" cy="45720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no seed averaging, so reported deltas of ~1 F1 point are within run-to-run noise.</a:t>
            </a:r>
            <a:endParaRPr lang="en-US" sz="1100" dirty="0"/>
          </a:p>
        </p:txBody>
      </p:sp>
      <p:sp>
        <p:nvSpPr>
          <p:cNvPr id="10" name="Shape 8"/>
          <p:cNvSpPr/>
          <p:nvPr/>
        </p:nvSpPr>
        <p:spPr>
          <a:xfrm>
            <a:off x="777240" y="3502152"/>
            <a:ext cx="164592" cy="164592"/>
          </a:xfrm>
          <a:prstGeom prst="ellipse">
            <a:avLst/>
          </a:prstGeom>
          <a:solidFill>
            <a:srgbClr val="E87461"/>
          </a:solidFill>
          <a:ln/>
        </p:spPr>
        <p:txBody>
          <a:bodyPr/>
          <a:lstStyle/>
          <a:p>
            <a:endParaRPr lang="en-US"/>
          </a:p>
        </p:txBody>
      </p:sp>
      <p:sp>
        <p:nvSpPr>
          <p:cNvPr id="11" name="Text 9"/>
          <p:cNvSpPr/>
          <p:nvPr/>
        </p:nvSpPr>
        <p:spPr>
          <a:xfrm>
            <a:off x="1051560" y="3429000"/>
            <a:ext cx="4663440" cy="32004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Validation set is small (1K)</a:t>
            </a:r>
            <a:endParaRPr lang="en-US" sz="1300" dirty="0"/>
          </a:p>
        </p:txBody>
      </p:sp>
      <p:sp>
        <p:nvSpPr>
          <p:cNvPr id="12" name="Text 10"/>
          <p:cNvSpPr/>
          <p:nvPr/>
        </p:nvSpPr>
        <p:spPr>
          <a:xfrm>
            <a:off x="1051560" y="3749040"/>
            <a:ext cx="4663440" cy="45720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so metric differences under ~2 F1 points may not be stable.</a:t>
            </a:r>
            <a:endParaRPr lang="en-US" sz="1100" dirty="0"/>
          </a:p>
        </p:txBody>
      </p:sp>
      <p:sp>
        <p:nvSpPr>
          <p:cNvPr id="13" name="Shape 11"/>
          <p:cNvSpPr/>
          <p:nvPr/>
        </p:nvSpPr>
        <p:spPr>
          <a:xfrm>
            <a:off x="777240" y="4370832"/>
            <a:ext cx="164592" cy="164592"/>
          </a:xfrm>
          <a:prstGeom prst="ellipse">
            <a:avLst/>
          </a:prstGeom>
          <a:solidFill>
            <a:srgbClr val="E87461"/>
          </a:solidFill>
          <a:ln/>
        </p:spPr>
        <p:txBody>
          <a:bodyPr/>
          <a:lstStyle/>
          <a:p>
            <a:endParaRPr lang="en-US"/>
          </a:p>
        </p:txBody>
      </p:sp>
      <p:sp>
        <p:nvSpPr>
          <p:cNvPr id="14" name="Text 12"/>
          <p:cNvSpPr/>
          <p:nvPr/>
        </p:nvSpPr>
        <p:spPr>
          <a:xfrm>
            <a:off x="1051560" y="4297680"/>
            <a:ext cx="4663440" cy="32004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No cross-validation</a:t>
            </a:r>
            <a:endParaRPr lang="en-US" sz="1300" dirty="0"/>
          </a:p>
        </p:txBody>
      </p:sp>
      <p:sp>
        <p:nvSpPr>
          <p:cNvPr id="15" name="Text 13"/>
          <p:cNvSpPr/>
          <p:nvPr/>
        </p:nvSpPr>
        <p:spPr>
          <a:xfrm>
            <a:off x="1051560" y="4617720"/>
            <a:ext cx="4663440" cy="45720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results depend on a single train/val split.</a:t>
            </a:r>
            <a:endParaRPr lang="en-US" sz="1100" dirty="0"/>
          </a:p>
        </p:txBody>
      </p:sp>
      <p:sp>
        <p:nvSpPr>
          <p:cNvPr id="16" name="Shape 14"/>
          <p:cNvSpPr/>
          <p:nvPr/>
        </p:nvSpPr>
        <p:spPr>
          <a:xfrm>
            <a:off x="777240" y="5239512"/>
            <a:ext cx="164592" cy="164592"/>
          </a:xfrm>
          <a:prstGeom prst="ellipse">
            <a:avLst/>
          </a:prstGeom>
          <a:solidFill>
            <a:srgbClr val="E87461"/>
          </a:solidFill>
          <a:ln/>
        </p:spPr>
        <p:txBody>
          <a:bodyPr/>
          <a:lstStyle/>
          <a:p>
            <a:endParaRPr lang="en-US"/>
          </a:p>
        </p:txBody>
      </p:sp>
      <p:sp>
        <p:nvSpPr>
          <p:cNvPr id="17" name="Text 15"/>
          <p:cNvSpPr/>
          <p:nvPr/>
        </p:nvSpPr>
        <p:spPr>
          <a:xfrm>
            <a:off x="1051560" y="5166360"/>
            <a:ext cx="4663440" cy="32004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English-only</a:t>
            </a:r>
            <a:endParaRPr lang="en-US" sz="1300" dirty="0"/>
          </a:p>
        </p:txBody>
      </p:sp>
      <p:sp>
        <p:nvSpPr>
          <p:cNvPr id="18" name="Text 16"/>
          <p:cNvSpPr/>
          <p:nvPr/>
        </p:nvSpPr>
        <p:spPr>
          <a:xfrm>
            <a:off x="1051560" y="5486400"/>
            <a:ext cx="4663440" cy="45720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dataset excludes multilingual tweets common on real Twitter.</a:t>
            </a:r>
            <a:endParaRPr lang="en-US" sz="1100" dirty="0"/>
          </a:p>
        </p:txBody>
      </p:sp>
      <p:sp>
        <p:nvSpPr>
          <p:cNvPr id="19" name="Text 17"/>
          <p:cNvSpPr/>
          <p:nvPr/>
        </p:nvSpPr>
        <p:spPr>
          <a:xfrm>
            <a:off x="6309360" y="2011680"/>
            <a:ext cx="5303520" cy="274320"/>
          </a:xfrm>
          <a:prstGeom prst="rect">
            <a:avLst/>
          </a:prstGeom>
          <a:noFill/>
          <a:ln/>
        </p:spPr>
        <p:txBody>
          <a:bodyPr wrap="square" rtlCol="0" anchor="ctr"/>
          <a:lstStyle/>
          <a:p>
            <a:pPr marL="0" indent="0">
              <a:buNone/>
            </a:pPr>
            <a:r>
              <a:rPr lang="en-US" sz="1200" b="1" kern="0" spc="400" dirty="0">
                <a:solidFill>
                  <a:srgbClr val="3E8989"/>
                </a:solidFill>
                <a:latin typeface="Calibri" pitchFamily="34" charset="0"/>
                <a:ea typeface="Calibri" pitchFamily="34" charset="-122"/>
                <a:cs typeface="Calibri" pitchFamily="34" charset="-120"/>
              </a:rPr>
              <a:t>FUTURE WORK</a:t>
            </a:r>
            <a:endParaRPr lang="en-US" sz="1200" dirty="0"/>
          </a:p>
        </p:txBody>
      </p:sp>
      <p:sp>
        <p:nvSpPr>
          <p:cNvPr id="20" name="Shape 18"/>
          <p:cNvSpPr/>
          <p:nvPr/>
        </p:nvSpPr>
        <p:spPr>
          <a:xfrm>
            <a:off x="6309360" y="2377440"/>
            <a:ext cx="5303520" cy="3840480"/>
          </a:xfrm>
          <a:prstGeom prst="rect">
            <a:avLst/>
          </a:prstGeom>
          <a:solidFill>
            <a:srgbClr val="101321"/>
          </a:solidFill>
          <a:ln/>
        </p:spPr>
        <p:txBody>
          <a:bodyPr/>
          <a:lstStyle/>
          <a:p>
            <a:endParaRPr lang="en-US"/>
          </a:p>
        </p:txBody>
      </p:sp>
      <p:sp>
        <p:nvSpPr>
          <p:cNvPr id="21" name="Shape 19"/>
          <p:cNvSpPr/>
          <p:nvPr/>
        </p:nvSpPr>
        <p:spPr>
          <a:xfrm>
            <a:off x="6537960" y="2633472"/>
            <a:ext cx="164592" cy="164592"/>
          </a:xfrm>
          <a:prstGeom prst="ellipse">
            <a:avLst/>
          </a:prstGeom>
          <a:solidFill>
            <a:srgbClr val="3E8989"/>
          </a:solidFill>
          <a:ln/>
        </p:spPr>
        <p:txBody>
          <a:bodyPr/>
          <a:lstStyle/>
          <a:p>
            <a:endParaRPr lang="en-US"/>
          </a:p>
        </p:txBody>
      </p:sp>
      <p:sp>
        <p:nvSpPr>
          <p:cNvPr id="22" name="Text 20"/>
          <p:cNvSpPr/>
          <p:nvPr/>
        </p:nvSpPr>
        <p:spPr>
          <a:xfrm>
            <a:off x="6812280" y="2560320"/>
            <a:ext cx="4663440" cy="320040"/>
          </a:xfrm>
          <a:prstGeom prst="rect">
            <a:avLst/>
          </a:prstGeom>
          <a:noFill/>
          <a:ln/>
        </p:spPr>
        <p:txBody>
          <a:bodyPr wrap="square" rtlCol="0" anchor="ctr"/>
          <a:lstStyle/>
          <a:p>
            <a:pPr marL="0" indent="0">
              <a:buNone/>
            </a:pPr>
            <a:r>
              <a:rPr lang="en-US" sz="1300" b="1" dirty="0">
                <a:solidFill>
                  <a:srgbClr val="EDE9E0"/>
                </a:solidFill>
                <a:latin typeface="Calibri" pitchFamily="34" charset="0"/>
                <a:ea typeface="Calibri" pitchFamily="34" charset="-122"/>
                <a:cs typeface="Calibri" pitchFamily="34" charset="-120"/>
              </a:rPr>
              <a:t>Seed-averaged runs</a:t>
            </a:r>
            <a:endParaRPr lang="en-US" sz="1300" dirty="0"/>
          </a:p>
        </p:txBody>
      </p:sp>
      <p:sp>
        <p:nvSpPr>
          <p:cNvPr id="23" name="Text 21"/>
          <p:cNvSpPr/>
          <p:nvPr/>
        </p:nvSpPr>
        <p:spPr>
          <a:xfrm>
            <a:off x="6812280" y="2880360"/>
            <a:ext cx="4663440" cy="457200"/>
          </a:xfrm>
          <a:prstGeom prst="rect">
            <a:avLst/>
          </a:prstGeom>
          <a:noFill/>
          <a:ln/>
        </p:spPr>
        <p:txBody>
          <a:bodyPr wrap="square" rtlCol="0" anchor="ctr"/>
          <a:lstStyle/>
          <a:p>
            <a:pPr marL="0" indent="0">
              <a:buNone/>
            </a:pPr>
            <a:r>
              <a:rPr lang="en-US" sz="1100" dirty="0">
                <a:solidFill>
                  <a:srgbClr val="A9A394"/>
                </a:solidFill>
                <a:latin typeface="Calibri" pitchFamily="34" charset="0"/>
                <a:ea typeface="Calibri" pitchFamily="34" charset="-122"/>
                <a:cs typeface="Calibri" pitchFamily="34" charset="-120"/>
              </a:rPr>
              <a:t>report confidence intervals around the ~1 F1 point delta between DistilBERT and BERT.</a:t>
            </a:r>
            <a:endParaRPr lang="en-US" sz="1100" dirty="0"/>
          </a:p>
        </p:txBody>
      </p:sp>
      <p:sp>
        <p:nvSpPr>
          <p:cNvPr id="24" name="Shape 22"/>
          <p:cNvSpPr/>
          <p:nvPr/>
        </p:nvSpPr>
        <p:spPr>
          <a:xfrm>
            <a:off x="6537960" y="3502152"/>
            <a:ext cx="164592" cy="164592"/>
          </a:xfrm>
          <a:prstGeom prst="ellipse">
            <a:avLst/>
          </a:prstGeom>
          <a:solidFill>
            <a:srgbClr val="3E8989"/>
          </a:solidFill>
          <a:ln/>
        </p:spPr>
        <p:txBody>
          <a:bodyPr/>
          <a:lstStyle/>
          <a:p>
            <a:endParaRPr lang="en-US"/>
          </a:p>
        </p:txBody>
      </p:sp>
      <p:sp>
        <p:nvSpPr>
          <p:cNvPr id="25" name="Text 23"/>
          <p:cNvSpPr/>
          <p:nvPr/>
        </p:nvSpPr>
        <p:spPr>
          <a:xfrm>
            <a:off x="6812280" y="3429000"/>
            <a:ext cx="4663440" cy="320040"/>
          </a:xfrm>
          <a:prstGeom prst="rect">
            <a:avLst/>
          </a:prstGeom>
          <a:noFill/>
          <a:ln/>
        </p:spPr>
        <p:txBody>
          <a:bodyPr wrap="square" rtlCol="0" anchor="ctr"/>
          <a:lstStyle/>
          <a:p>
            <a:pPr marL="0" indent="0">
              <a:buNone/>
            </a:pPr>
            <a:r>
              <a:rPr lang="en-US" sz="1300" b="1" dirty="0">
                <a:solidFill>
                  <a:srgbClr val="EDE9E0"/>
                </a:solidFill>
                <a:latin typeface="Calibri" pitchFamily="34" charset="0"/>
                <a:ea typeface="Calibri" pitchFamily="34" charset="-122"/>
                <a:cs typeface="Calibri" pitchFamily="34" charset="-120"/>
              </a:rPr>
              <a:t>Class-balanced sampling</a:t>
            </a:r>
            <a:endParaRPr lang="en-US" sz="1300" dirty="0"/>
          </a:p>
        </p:txBody>
      </p:sp>
      <p:sp>
        <p:nvSpPr>
          <p:cNvPr id="26" name="Text 24"/>
          <p:cNvSpPr/>
          <p:nvPr/>
        </p:nvSpPr>
        <p:spPr>
          <a:xfrm>
            <a:off x="6812280" y="3749040"/>
            <a:ext cx="4663440" cy="457200"/>
          </a:xfrm>
          <a:prstGeom prst="rect">
            <a:avLst/>
          </a:prstGeom>
          <a:noFill/>
          <a:ln/>
        </p:spPr>
        <p:txBody>
          <a:bodyPr wrap="square" rtlCol="0" anchor="ctr"/>
          <a:lstStyle/>
          <a:p>
            <a:pPr marL="0" indent="0">
              <a:buNone/>
            </a:pPr>
            <a:r>
              <a:rPr lang="en-US" sz="1100" dirty="0">
                <a:solidFill>
                  <a:srgbClr val="A9A394"/>
                </a:solidFill>
                <a:latin typeface="Calibri" pitchFamily="34" charset="0"/>
                <a:ea typeface="Calibri" pitchFamily="34" charset="-122"/>
                <a:cs typeface="Calibri" pitchFamily="34" charset="-120"/>
              </a:rPr>
              <a:t>or focal loss to help the minority "Irrelevant" class.</a:t>
            </a:r>
            <a:endParaRPr lang="en-US" sz="1100" dirty="0"/>
          </a:p>
        </p:txBody>
      </p:sp>
      <p:sp>
        <p:nvSpPr>
          <p:cNvPr id="27" name="Shape 25"/>
          <p:cNvSpPr/>
          <p:nvPr/>
        </p:nvSpPr>
        <p:spPr>
          <a:xfrm>
            <a:off x="6537960" y="4370832"/>
            <a:ext cx="164592" cy="164592"/>
          </a:xfrm>
          <a:prstGeom prst="ellipse">
            <a:avLst/>
          </a:prstGeom>
          <a:solidFill>
            <a:srgbClr val="3E8989"/>
          </a:solidFill>
          <a:ln/>
        </p:spPr>
        <p:txBody>
          <a:bodyPr/>
          <a:lstStyle/>
          <a:p>
            <a:endParaRPr lang="en-US"/>
          </a:p>
        </p:txBody>
      </p:sp>
      <p:sp>
        <p:nvSpPr>
          <p:cNvPr id="28" name="Text 26"/>
          <p:cNvSpPr/>
          <p:nvPr/>
        </p:nvSpPr>
        <p:spPr>
          <a:xfrm>
            <a:off x="6812280" y="4297680"/>
            <a:ext cx="4663440" cy="320040"/>
          </a:xfrm>
          <a:prstGeom prst="rect">
            <a:avLst/>
          </a:prstGeom>
          <a:noFill/>
          <a:ln/>
        </p:spPr>
        <p:txBody>
          <a:bodyPr wrap="square" rtlCol="0" anchor="ctr"/>
          <a:lstStyle/>
          <a:p>
            <a:pPr marL="0" indent="0">
              <a:buNone/>
            </a:pPr>
            <a:r>
              <a:rPr lang="en-US" sz="1300" b="1" dirty="0">
                <a:solidFill>
                  <a:srgbClr val="EDE9E0"/>
                </a:solidFill>
                <a:latin typeface="Calibri" pitchFamily="34" charset="0"/>
                <a:ea typeface="Calibri" pitchFamily="34" charset="-122"/>
                <a:cs typeface="Calibri" pitchFamily="34" charset="-120"/>
              </a:rPr>
              <a:t>Domain-adapted models</a:t>
            </a:r>
            <a:endParaRPr lang="en-US" sz="1300" dirty="0"/>
          </a:p>
        </p:txBody>
      </p:sp>
      <p:sp>
        <p:nvSpPr>
          <p:cNvPr id="29" name="Text 27"/>
          <p:cNvSpPr/>
          <p:nvPr/>
        </p:nvSpPr>
        <p:spPr>
          <a:xfrm>
            <a:off x="6812280" y="4617720"/>
            <a:ext cx="4663440" cy="457200"/>
          </a:xfrm>
          <a:prstGeom prst="rect">
            <a:avLst/>
          </a:prstGeom>
          <a:noFill/>
          <a:ln/>
        </p:spPr>
        <p:txBody>
          <a:bodyPr wrap="square" rtlCol="0" anchor="ctr"/>
          <a:lstStyle/>
          <a:p>
            <a:pPr marL="0" indent="0">
              <a:buNone/>
            </a:pPr>
            <a:r>
              <a:rPr lang="en-US" sz="1100" dirty="0">
                <a:solidFill>
                  <a:srgbClr val="A9A394"/>
                </a:solidFill>
                <a:latin typeface="Calibri" pitchFamily="34" charset="0"/>
                <a:ea typeface="Calibri" pitchFamily="34" charset="-122"/>
                <a:cs typeface="Calibri" pitchFamily="34" charset="-120"/>
              </a:rPr>
              <a:t>try BERTweet or RoBERTa-Twitter pretrained on actual tweets.</a:t>
            </a:r>
            <a:endParaRPr lang="en-US" sz="1100" dirty="0"/>
          </a:p>
        </p:txBody>
      </p:sp>
      <p:sp>
        <p:nvSpPr>
          <p:cNvPr id="30" name="Shape 28"/>
          <p:cNvSpPr/>
          <p:nvPr/>
        </p:nvSpPr>
        <p:spPr>
          <a:xfrm>
            <a:off x="6537960" y="5239512"/>
            <a:ext cx="164592" cy="164592"/>
          </a:xfrm>
          <a:prstGeom prst="ellipse">
            <a:avLst/>
          </a:prstGeom>
          <a:solidFill>
            <a:srgbClr val="3E8989"/>
          </a:solidFill>
          <a:ln/>
        </p:spPr>
        <p:txBody>
          <a:bodyPr/>
          <a:lstStyle/>
          <a:p>
            <a:endParaRPr lang="en-US"/>
          </a:p>
        </p:txBody>
      </p:sp>
      <p:sp>
        <p:nvSpPr>
          <p:cNvPr id="31" name="Text 29"/>
          <p:cNvSpPr/>
          <p:nvPr/>
        </p:nvSpPr>
        <p:spPr>
          <a:xfrm>
            <a:off x="6812280" y="5166360"/>
            <a:ext cx="4663440" cy="320040"/>
          </a:xfrm>
          <a:prstGeom prst="rect">
            <a:avLst/>
          </a:prstGeom>
          <a:noFill/>
          <a:ln/>
        </p:spPr>
        <p:txBody>
          <a:bodyPr wrap="square" rtlCol="0" anchor="ctr"/>
          <a:lstStyle/>
          <a:p>
            <a:pPr marL="0" indent="0">
              <a:buNone/>
            </a:pPr>
            <a:r>
              <a:rPr lang="en-US" sz="1300" b="1" dirty="0">
                <a:solidFill>
                  <a:srgbClr val="EDE9E0"/>
                </a:solidFill>
                <a:latin typeface="Calibri" pitchFamily="34" charset="0"/>
                <a:ea typeface="Calibri" pitchFamily="34" charset="-122"/>
                <a:cs typeface="Calibri" pitchFamily="34" charset="-120"/>
              </a:rPr>
              <a:t>Error-pattern analysis</a:t>
            </a:r>
            <a:endParaRPr lang="en-US" sz="1300" dirty="0"/>
          </a:p>
        </p:txBody>
      </p:sp>
      <p:sp>
        <p:nvSpPr>
          <p:cNvPr id="32" name="Text 30"/>
          <p:cNvSpPr/>
          <p:nvPr/>
        </p:nvSpPr>
        <p:spPr>
          <a:xfrm>
            <a:off x="6812280" y="5486400"/>
            <a:ext cx="4663440" cy="457200"/>
          </a:xfrm>
          <a:prstGeom prst="rect">
            <a:avLst/>
          </a:prstGeom>
          <a:noFill/>
          <a:ln/>
        </p:spPr>
        <p:txBody>
          <a:bodyPr wrap="square" rtlCol="0" anchor="ctr"/>
          <a:lstStyle/>
          <a:p>
            <a:pPr marL="0" indent="0">
              <a:buNone/>
            </a:pPr>
            <a:r>
              <a:rPr lang="en-US" sz="1100" dirty="0">
                <a:solidFill>
                  <a:srgbClr val="A9A394"/>
                </a:solidFill>
                <a:latin typeface="Calibri" pitchFamily="34" charset="0"/>
                <a:ea typeface="Calibri" pitchFamily="34" charset="-122"/>
                <a:cs typeface="Calibri" pitchFamily="34" charset="-120"/>
              </a:rPr>
              <a:t>qualitative review of sarcastic or emoji-heavy misclassifications.</a:t>
            </a:r>
            <a:endParaRPr lang="en-US" sz="1100" dirty="0"/>
          </a:p>
        </p:txBody>
      </p:sp>
      <p:sp>
        <p:nvSpPr>
          <p:cNvPr id="33" name="Text 31"/>
          <p:cNvSpPr/>
          <p:nvPr/>
        </p:nvSpPr>
        <p:spPr>
          <a:xfrm>
            <a:off x="548640" y="6446520"/>
            <a:ext cx="5486400" cy="274320"/>
          </a:xfrm>
          <a:prstGeom prst="rect">
            <a:avLst/>
          </a:prstGeom>
          <a:noFill/>
          <a:ln/>
        </p:spPr>
        <p:txBody>
          <a:bodyPr wrap="square" rtlCol="0" anchor="ctr"/>
          <a:lstStyle/>
          <a:p>
            <a:pPr marL="0" indent="0">
              <a:buNone/>
            </a:pPr>
            <a:r>
              <a:rPr lang="en-US" sz="900" kern="0" spc="200" dirty="0">
                <a:solidFill>
                  <a:srgbClr val="6B7280"/>
                </a:solidFill>
                <a:latin typeface="Calibri" pitchFamily="34" charset="0"/>
                <a:ea typeface="Calibri" pitchFamily="34" charset="-122"/>
                <a:cs typeface="Calibri" pitchFamily="34" charset="-120"/>
              </a:rPr>
              <a:t>Sentiment Analysis · Group Project</a:t>
            </a:r>
            <a:endParaRPr lang="en-US" sz="900" dirty="0"/>
          </a:p>
        </p:txBody>
      </p:sp>
      <p:sp>
        <p:nvSpPr>
          <p:cNvPr id="34" name="Text 32"/>
          <p:cNvSpPr/>
          <p:nvPr/>
        </p:nvSpPr>
        <p:spPr>
          <a:xfrm>
            <a:off x="11064240" y="6446520"/>
            <a:ext cx="64008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321"/>
        </a:solidFill>
        <a:effectLst/>
      </p:bgPr>
    </p:bg>
    <p:spTree>
      <p:nvGrpSpPr>
        <p:cNvPr id="1" name=""/>
        <p:cNvGrpSpPr/>
        <p:nvPr/>
      </p:nvGrpSpPr>
      <p:grpSpPr>
        <a:xfrm>
          <a:off x="0" y="0"/>
          <a:ext cx="0" cy="0"/>
          <a:chOff x="0" y="0"/>
          <a:chExt cx="0" cy="0"/>
        </a:xfrm>
      </p:grpSpPr>
      <p:sp>
        <p:nvSpPr>
          <p:cNvPr id="2" name="Text 0"/>
          <p:cNvSpPr/>
          <p:nvPr/>
        </p:nvSpPr>
        <p:spPr>
          <a:xfrm>
            <a:off x="731520" y="1097280"/>
            <a:ext cx="10972800" cy="1371600"/>
          </a:xfrm>
          <a:prstGeom prst="rect">
            <a:avLst/>
          </a:prstGeom>
          <a:noFill/>
          <a:ln/>
        </p:spPr>
        <p:txBody>
          <a:bodyPr wrap="square" rtlCol="0" anchor="ctr"/>
          <a:lstStyle/>
          <a:p>
            <a:pPr marL="0" indent="0">
              <a:buNone/>
            </a:pPr>
            <a:r>
              <a:rPr lang="en-US" sz="7200" b="1" dirty="0">
                <a:solidFill>
                  <a:srgbClr val="EDE9E0"/>
                </a:solidFill>
                <a:latin typeface="Georgia" pitchFamily="34" charset="0"/>
                <a:ea typeface="Georgia" pitchFamily="34" charset="-122"/>
                <a:cs typeface="Georgia" pitchFamily="34" charset="-120"/>
              </a:rPr>
              <a:t>Thank you</a:t>
            </a:r>
            <a:endParaRPr lang="en-US" sz="7200" dirty="0"/>
          </a:p>
        </p:txBody>
      </p:sp>
      <p:sp>
        <p:nvSpPr>
          <p:cNvPr id="3" name="Text 1"/>
          <p:cNvSpPr/>
          <p:nvPr/>
        </p:nvSpPr>
        <p:spPr>
          <a:xfrm>
            <a:off x="731520" y="2331720"/>
            <a:ext cx="10972800" cy="548640"/>
          </a:xfrm>
          <a:prstGeom prst="rect">
            <a:avLst/>
          </a:prstGeom>
          <a:noFill/>
          <a:ln/>
        </p:spPr>
        <p:txBody>
          <a:bodyPr wrap="square" rtlCol="0" anchor="ctr"/>
          <a:lstStyle/>
          <a:p>
            <a:pPr marL="0" indent="0">
              <a:buNone/>
            </a:pPr>
            <a:r>
              <a:rPr lang="en-US" sz="2000" i="1" dirty="0">
                <a:solidFill>
                  <a:srgbClr val="BDB7A8"/>
                </a:solidFill>
                <a:latin typeface="Calibri" pitchFamily="34" charset="0"/>
                <a:ea typeface="Calibri" pitchFamily="34" charset="-122"/>
                <a:cs typeface="Calibri" pitchFamily="34" charset="-120"/>
              </a:rPr>
              <a:t>Questions, critiques, and ideas — all welcome.</a:t>
            </a:r>
            <a:endParaRPr lang="en-US" sz="2000" dirty="0"/>
          </a:p>
        </p:txBody>
      </p:sp>
      <p:sp>
        <p:nvSpPr>
          <p:cNvPr id="4" name="Shape 2"/>
          <p:cNvSpPr/>
          <p:nvPr/>
        </p:nvSpPr>
        <p:spPr>
          <a:xfrm>
            <a:off x="731520" y="3108960"/>
            <a:ext cx="2286000" cy="0"/>
          </a:xfrm>
          <a:prstGeom prst="line">
            <a:avLst/>
          </a:prstGeom>
          <a:noFill/>
          <a:ln w="9525">
            <a:solidFill>
              <a:srgbClr val="E87461"/>
            </a:solidFill>
            <a:prstDash val="solid"/>
          </a:ln>
        </p:spPr>
        <p:txBody>
          <a:bodyPr/>
          <a:lstStyle/>
          <a:p>
            <a:endParaRPr lang="en-US"/>
          </a:p>
        </p:txBody>
      </p:sp>
      <p:sp>
        <p:nvSpPr>
          <p:cNvPr id="5" name="Text 3"/>
          <p:cNvSpPr/>
          <p:nvPr/>
        </p:nvSpPr>
        <p:spPr>
          <a:xfrm>
            <a:off x="731520" y="3429000"/>
            <a:ext cx="5303520" cy="274320"/>
          </a:xfrm>
          <a:prstGeom prst="rect">
            <a:avLst/>
          </a:prstGeom>
          <a:noFill/>
          <a:ln/>
        </p:spPr>
        <p:txBody>
          <a:bodyPr wrap="square" rtlCol="0" anchor="ctr"/>
          <a:lstStyle/>
          <a:p>
            <a:pPr marL="0" indent="0">
              <a:buNone/>
            </a:pPr>
            <a:r>
              <a:rPr lang="en-US" sz="1100" b="1" kern="0" spc="300" dirty="0">
                <a:solidFill>
                  <a:srgbClr val="E87461"/>
                </a:solidFill>
                <a:latin typeface="Calibri" pitchFamily="34" charset="0"/>
                <a:ea typeface="Calibri" pitchFamily="34" charset="-122"/>
                <a:cs typeface="Calibri" pitchFamily="34" charset="-120"/>
              </a:rPr>
              <a:t>REFERENCES</a:t>
            </a:r>
            <a:endParaRPr lang="en-US" sz="1100" dirty="0"/>
          </a:p>
        </p:txBody>
      </p:sp>
      <p:sp>
        <p:nvSpPr>
          <p:cNvPr id="6" name="Text 4"/>
          <p:cNvSpPr/>
          <p:nvPr/>
        </p:nvSpPr>
        <p:spPr>
          <a:xfrm>
            <a:off x="731520" y="3749040"/>
            <a:ext cx="5303520" cy="2377440"/>
          </a:xfrm>
          <a:prstGeom prst="rect">
            <a:avLst/>
          </a:prstGeom>
          <a:noFill/>
          <a:ln/>
        </p:spPr>
        <p:txBody>
          <a:bodyPr wrap="square" rtlCol="0" anchor="ctr"/>
          <a:lstStyle/>
          <a:p>
            <a:pPr marL="0" indent="0">
              <a:spcAft>
                <a:spcPts val="600"/>
              </a:spcAft>
              <a:buNone/>
            </a:pPr>
            <a:r>
              <a:rPr lang="en-US" sz="1100" b="1" dirty="0">
                <a:solidFill>
                  <a:srgbClr val="EDE9E0"/>
                </a:solidFill>
                <a:latin typeface="Calibri" pitchFamily="34" charset="0"/>
                <a:ea typeface="Calibri" pitchFamily="34" charset="-122"/>
                <a:cs typeface="Calibri" pitchFamily="34" charset="-120"/>
              </a:rPr>
              <a:t>Sanh, V. et al. (2019). </a:t>
            </a:r>
            <a:r>
              <a:rPr lang="en-US" sz="1100" i="1" dirty="0">
                <a:solidFill>
                  <a:srgbClr val="BDB7A8"/>
                </a:solidFill>
                <a:latin typeface="Calibri" pitchFamily="34" charset="0"/>
                <a:ea typeface="Calibri" pitchFamily="34" charset="-122"/>
                <a:cs typeface="Calibri" pitchFamily="34" charset="-120"/>
              </a:rPr>
              <a:t>DistilBERT, a distilled version of BERT: smaller, faster, cheaper and lighter.</a:t>
            </a:r>
            <a:endParaRPr lang="en-US" sz="1100" dirty="0"/>
          </a:p>
          <a:p>
            <a:pPr marL="0" indent="0">
              <a:spcAft>
                <a:spcPts val="600"/>
              </a:spcAft>
              <a:buNone/>
            </a:pPr>
            <a:r>
              <a:rPr lang="en-US" sz="400" dirty="0">
                <a:solidFill>
                  <a:srgbClr val="000000"/>
                </a:solidFill>
                <a:latin typeface="Calibri" pitchFamily="34" charset="0"/>
                <a:ea typeface="Calibri" pitchFamily="34" charset="-122"/>
                <a:cs typeface="Calibri" pitchFamily="34" charset="-120"/>
              </a:rPr>
              <a:t> </a:t>
            </a:r>
            <a:endParaRPr lang="en-US" sz="1100" dirty="0"/>
          </a:p>
          <a:p>
            <a:pPr marL="0" indent="0">
              <a:spcAft>
                <a:spcPts val="600"/>
              </a:spcAft>
              <a:buNone/>
            </a:pPr>
            <a:r>
              <a:rPr lang="en-US" sz="1100" b="1" dirty="0">
                <a:solidFill>
                  <a:srgbClr val="EDE9E0"/>
                </a:solidFill>
                <a:latin typeface="Calibri" pitchFamily="34" charset="0"/>
                <a:ea typeface="Calibri" pitchFamily="34" charset="-122"/>
                <a:cs typeface="Calibri" pitchFamily="34" charset="-120"/>
              </a:rPr>
              <a:t>Devlin, J. et al. (2019). </a:t>
            </a:r>
            <a:r>
              <a:rPr lang="en-US" sz="1100" i="1" dirty="0">
                <a:solidFill>
                  <a:srgbClr val="BDB7A8"/>
                </a:solidFill>
                <a:latin typeface="Calibri" pitchFamily="34" charset="0"/>
                <a:ea typeface="Calibri" pitchFamily="34" charset="-122"/>
                <a:cs typeface="Calibri" pitchFamily="34" charset="-120"/>
              </a:rPr>
              <a:t>BERT: Pre-training of Deep Bidirectional Transformers for Language Understanding.</a:t>
            </a:r>
            <a:endParaRPr lang="en-US" sz="1100" dirty="0"/>
          </a:p>
          <a:p>
            <a:pPr marL="0" indent="0">
              <a:spcAft>
                <a:spcPts val="600"/>
              </a:spcAft>
              <a:buNone/>
            </a:pPr>
            <a:r>
              <a:rPr lang="en-US" sz="400" dirty="0">
                <a:solidFill>
                  <a:srgbClr val="000000"/>
                </a:solidFill>
                <a:latin typeface="Calibri" pitchFamily="34" charset="0"/>
                <a:ea typeface="Calibri" pitchFamily="34" charset="-122"/>
                <a:cs typeface="Calibri" pitchFamily="34" charset="-120"/>
              </a:rPr>
              <a:t> </a:t>
            </a:r>
            <a:endParaRPr lang="en-US" sz="1100" dirty="0"/>
          </a:p>
          <a:p>
            <a:pPr marL="0" indent="0">
              <a:spcAft>
                <a:spcPts val="600"/>
              </a:spcAft>
              <a:buNone/>
            </a:pPr>
            <a:r>
              <a:rPr lang="en-US" sz="1100" b="1" dirty="0">
                <a:solidFill>
                  <a:srgbClr val="EDE9E0"/>
                </a:solidFill>
                <a:latin typeface="Calibri" pitchFamily="34" charset="0"/>
                <a:ea typeface="Calibri" pitchFamily="34" charset="-122"/>
                <a:cs typeface="Calibri" pitchFamily="34" charset="-120"/>
              </a:rPr>
              <a:t>Kaggle. </a:t>
            </a:r>
            <a:r>
              <a:rPr lang="en-US" sz="1100" i="1" dirty="0">
                <a:solidFill>
                  <a:srgbClr val="BDB7A8"/>
                </a:solidFill>
                <a:latin typeface="Calibri" pitchFamily="34" charset="0"/>
                <a:ea typeface="Calibri" pitchFamily="34" charset="-122"/>
                <a:cs typeface="Calibri" pitchFamily="34" charset="-120"/>
              </a:rPr>
              <a:t>Twitter Entity Sentiment Analysis dataset (jp797498e).</a:t>
            </a:r>
            <a:endParaRPr lang="en-US" sz="1100" dirty="0"/>
          </a:p>
        </p:txBody>
      </p:sp>
      <p:sp>
        <p:nvSpPr>
          <p:cNvPr id="7" name="Text 5"/>
          <p:cNvSpPr/>
          <p:nvPr/>
        </p:nvSpPr>
        <p:spPr>
          <a:xfrm>
            <a:off x="6583680" y="3429000"/>
            <a:ext cx="5303520" cy="274320"/>
          </a:xfrm>
          <a:prstGeom prst="rect">
            <a:avLst/>
          </a:prstGeom>
          <a:noFill/>
          <a:ln/>
        </p:spPr>
        <p:txBody>
          <a:bodyPr wrap="square" rtlCol="0" anchor="ctr"/>
          <a:lstStyle/>
          <a:p>
            <a:pPr marL="0" indent="0">
              <a:buNone/>
            </a:pPr>
            <a:r>
              <a:rPr lang="en-US" sz="1100" b="1" kern="0" spc="300" dirty="0">
                <a:solidFill>
                  <a:srgbClr val="E87461"/>
                </a:solidFill>
                <a:latin typeface="Calibri" pitchFamily="34" charset="0"/>
                <a:ea typeface="Calibri" pitchFamily="34" charset="-122"/>
                <a:cs typeface="Calibri" pitchFamily="34" charset="-120"/>
              </a:rPr>
              <a:t>TOOLS &amp; CREDITS</a:t>
            </a:r>
            <a:endParaRPr lang="en-US" sz="1100" dirty="0"/>
          </a:p>
        </p:txBody>
      </p:sp>
      <p:sp>
        <p:nvSpPr>
          <p:cNvPr id="8" name="Text 6"/>
          <p:cNvSpPr/>
          <p:nvPr/>
        </p:nvSpPr>
        <p:spPr>
          <a:xfrm>
            <a:off x="6583680" y="3749040"/>
            <a:ext cx="5303520" cy="2377440"/>
          </a:xfrm>
          <a:prstGeom prst="rect">
            <a:avLst/>
          </a:prstGeom>
          <a:noFill/>
          <a:ln/>
        </p:spPr>
        <p:txBody>
          <a:bodyPr wrap="square" rtlCol="0" anchor="ctr"/>
          <a:lstStyle/>
          <a:p>
            <a:pPr marL="0" indent="0">
              <a:spcAft>
                <a:spcPts val="600"/>
              </a:spcAft>
              <a:buNone/>
            </a:pPr>
            <a:r>
              <a:rPr lang="en-US" sz="1100" b="1" dirty="0">
                <a:solidFill>
                  <a:srgbClr val="EDE9E0"/>
                </a:solidFill>
                <a:latin typeface="Calibri" pitchFamily="34" charset="0"/>
                <a:ea typeface="Calibri" pitchFamily="34" charset="-122"/>
                <a:cs typeface="Calibri" pitchFamily="34" charset="-120"/>
              </a:rPr>
              <a:t>Hugging Face Transformers </a:t>
            </a:r>
            <a:r>
              <a:rPr lang="en-US" sz="1100" dirty="0">
                <a:solidFill>
                  <a:srgbClr val="BDB7A8"/>
                </a:solidFill>
                <a:latin typeface="Calibri" pitchFamily="34" charset="0"/>
                <a:ea typeface="Calibri" pitchFamily="34" charset="-122"/>
                <a:cs typeface="Calibri" pitchFamily="34" charset="-120"/>
              </a:rPr>
              <a:t>— pretrained models &amp; tokenizers</a:t>
            </a:r>
            <a:endParaRPr lang="en-US" sz="1100" dirty="0"/>
          </a:p>
          <a:p>
            <a:pPr marL="0" indent="0">
              <a:spcAft>
                <a:spcPts val="600"/>
              </a:spcAft>
              <a:buNone/>
            </a:pPr>
            <a:r>
              <a:rPr lang="en-US" sz="400" dirty="0">
                <a:solidFill>
                  <a:srgbClr val="000000"/>
                </a:solidFill>
                <a:latin typeface="Calibri" pitchFamily="34" charset="0"/>
                <a:ea typeface="Calibri" pitchFamily="34" charset="-122"/>
                <a:cs typeface="Calibri" pitchFamily="34" charset="-120"/>
              </a:rPr>
              <a:t> </a:t>
            </a:r>
            <a:endParaRPr lang="en-US" sz="1100" dirty="0"/>
          </a:p>
          <a:p>
            <a:pPr marL="0" indent="0">
              <a:spcAft>
                <a:spcPts val="600"/>
              </a:spcAft>
              <a:buNone/>
            </a:pPr>
            <a:r>
              <a:rPr lang="en-US" sz="1100" b="1" dirty="0">
                <a:solidFill>
                  <a:srgbClr val="EDE9E0"/>
                </a:solidFill>
                <a:latin typeface="Calibri" pitchFamily="34" charset="0"/>
                <a:ea typeface="Calibri" pitchFamily="34" charset="-122"/>
                <a:cs typeface="Calibri" pitchFamily="34" charset="-120"/>
              </a:rPr>
              <a:t>PyTorch </a:t>
            </a:r>
            <a:r>
              <a:rPr lang="en-US" sz="1100" dirty="0">
                <a:solidFill>
                  <a:srgbClr val="BDB7A8"/>
                </a:solidFill>
                <a:latin typeface="Calibri" pitchFamily="34" charset="0"/>
                <a:ea typeface="Calibri" pitchFamily="34" charset="-122"/>
                <a:cs typeface="Calibri" pitchFamily="34" charset="-120"/>
              </a:rPr>
              <a:t>— training &amp; autograd</a:t>
            </a:r>
            <a:endParaRPr lang="en-US" sz="1100" dirty="0"/>
          </a:p>
          <a:p>
            <a:pPr marL="0" indent="0">
              <a:spcAft>
                <a:spcPts val="600"/>
              </a:spcAft>
              <a:buNone/>
            </a:pPr>
            <a:r>
              <a:rPr lang="en-US" sz="400" dirty="0">
                <a:solidFill>
                  <a:srgbClr val="000000"/>
                </a:solidFill>
                <a:latin typeface="Calibri" pitchFamily="34" charset="0"/>
                <a:ea typeface="Calibri" pitchFamily="34" charset="-122"/>
                <a:cs typeface="Calibri" pitchFamily="34" charset="-120"/>
              </a:rPr>
              <a:t> </a:t>
            </a:r>
            <a:endParaRPr lang="en-US" sz="1100" dirty="0"/>
          </a:p>
          <a:p>
            <a:pPr marL="0" indent="0">
              <a:spcAft>
                <a:spcPts val="600"/>
              </a:spcAft>
              <a:buNone/>
            </a:pPr>
            <a:r>
              <a:rPr lang="en-US" sz="1100" b="1" dirty="0">
                <a:solidFill>
                  <a:srgbClr val="EDE9E0"/>
                </a:solidFill>
                <a:latin typeface="Calibri" pitchFamily="34" charset="0"/>
                <a:ea typeface="Calibri" pitchFamily="34" charset="-122"/>
                <a:cs typeface="Calibri" pitchFamily="34" charset="-120"/>
              </a:rPr>
              <a:t>scikit-learn </a:t>
            </a:r>
            <a:r>
              <a:rPr lang="en-US" sz="1100" dirty="0">
                <a:solidFill>
                  <a:srgbClr val="BDB7A8"/>
                </a:solidFill>
                <a:latin typeface="Calibri" pitchFamily="34" charset="0"/>
                <a:ea typeface="Calibri" pitchFamily="34" charset="-122"/>
                <a:cs typeface="Calibri" pitchFamily="34" charset="-120"/>
              </a:rPr>
              <a:t>— classical baselines &amp; metrics</a:t>
            </a:r>
            <a:endParaRPr lang="en-US" sz="1100" dirty="0"/>
          </a:p>
          <a:p>
            <a:pPr marL="0" indent="0">
              <a:spcAft>
                <a:spcPts val="600"/>
              </a:spcAft>
              <a:buNone/>
            </a:pPr>
            <a:r>
              <a:rPr lang="en-US" sz="400" dirty="0">
                <a:solidFill>
                  <a:srgbClr val="000000"/>
                </a:solidFill>
                <a:latin typeface="Calibri" pitchFamily="34" charset="0"/>
                <a:ea typeface="Calibri" pitchFamily="34" charset="-122"/>
                <a:cs typeface="Calibri" pitchFamily="34" charset="-120"/>
              </a:rPr>
              <a:t> </a:t>
            </a:r>
            <a:endParaRPr lang="en-US" sz="1100" dirty="0"/>
          </a:p>
          <a:p>
            <a:pPr marL="0" indent="0">
              <a:spcAft>
                <a:spcPts val="600"/>
              </a:spcAft>
              <a:buNone/>
            </a:pPr>
            <a:r>
              <a:rPr lang="en-US" sz="1100" b="1" dirty="0">
                <a:solidFill>
                  <a:srgbClr val="EDE9E0"/>
                </a:solidFill>
                <a:latin typeface="Calibri" pitchFamily="34" charset="0"/>
                <a:ea typeface="Calibri" pitchFamily="34" charset="-122"/>
                <a:cs typeface="Calibri" pitchFamily="34" charset="-120"/>
              </a:rPr>
              <a:t>Google Colab </a:t>
            </a:r>
            <a:r>
              <a:rPr lang="en-US" sz="1100" dirty="0">
                <a:solidFill>
                  <a:srgbClr val="BDB7A8"/>
                </a:solidFill>
                <a:latin typeface="Calibri" pitchFamily="34" charset="0"/>
                <a:ea typeface="Calibri" pitchFamily="34" charset="-122"/>
                <a:cs typeface="Calibri" pitchFamily="34" charset="-120"/>
              </a:rPr>
              <a:t>— T4 GPU compute environment</a:t>
            </a:r>
            <a:endParaRPr lang="en-US" sz="1100" dirty="0"/>
          </a:p>
        </p:txBody>
      </p:sp>
      <p:sp>
        <p:nvSpPr>
          <p:cNvPr id="9" name="Text 7"/>
          <p:cNvSpPr/>
          <p:nvPr/>
        </p:nvSpPr>
        <p:spPr>
          <a:xfrm>
            <a:off x="731520" y="6400800"/>
            <a:ext cx="10972800" cy="274320"/>
          </a:xfrm>
          <a:prstGeom prst="rect">
            <a:avLst/>
          </a:prstGeom>
          <a:noFill/>
          <a:ln/>
        </p:spPr>
        <p:txBody>
          <a:bodyPr wrap="square" rtlCol="0" anchor="ctr"/>
          <a:lstStyle/>
          <a:p>
            <a:pPr marL="0" indent="0">
              <a:buNone/>
            </a:pPr>
            <a:r>
              <a:rPr lang="en-US" sz="1000" i="1" kern="0" spc="200" dirty="0">
                <a:solidFill>
                  <a:srgbClr val="8A8578"/>
                </a:solidFill>
                <a:latin typeface="Calibri" pitchFamily="34" charset="0"/>
                <a:ea typeface="Calibri" pitchFamily="34" charset="-122"/>
                <a:cs typeface="Calibri" pitchFamily="34" charset="-120"/>
              </a:rPr>
              <a:t>[Instructor] · [Course Code] · [University] · [Date]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1406</Words>
  <Application>Microsoft Macintosh PowerPoint</Application>
  <PresentationFormat>Widescreen</PresentationFormat>
  <Paragraphs>305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Analysis on Tweets</dc:title>
  <dc:subject>PptxGenJS Presentation</dc:subject>
  <dc:creator>PptxGenJS</dc:creator>
  <cp:lastModifiedBy>Prajnyique Ghimire (RIT Student)</cp:lastModifiedBy>
  <cp:revision>2</cp:revision>
  <dcterms:created xsi:type="dcterms:W3CDTF">2026-04-24T02:27:09Z</dcterms:created>
  <dcterms:modified xsi:type="dcterms:W3CDTF">2026-04-24T07:36:29Z</dcterms:modified>
</cp:coreProperties>
</file>